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4" d="100"/>
          <a:sy n="124" d="100"/>
        </p:scale>
        <p:origin x="77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Val Accuracy %</c:v>
                </c:pt>
              </c:strCache>
            </c:strRef>
          </c:tx>
          <c:spPr>
            <a:solidFill>
              <a:srgbClr val="E75480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F31D-40A4-BE50-3D064857153F}"/>
              </c:ext>
            </c:extLst>
          </c:dPt>
          <c:dPt>
            <c:idx val="1"/>
            <c:invertIfNegative val="0"/>
            <c:bubble3D val="0"/>
            <c:spPr>
              <a:solidFill>
                <a:srgbClr val="1DB95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F31D-40A4-BE50-3D064857153F}"/>
              </c:ext>
            </c:extLst>
          </c:dPt>
          <c:dPt>
            <c:idx val="2"/>
            <c:invertIfNegative val="0"/>
            <c:bubble3D val="0"/>
            <c:spPr>
              <a:solidFill>
                <a:srgbClr val="9B4AD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F31D-40A4-BE50-3D064857153F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SGD</c:v>
                </c:pt>
                <c:pt idx="1">
                  <c:v>RMSprop</c:v>
                </c:pt>
                <c:pt idx="2">
                  <c:v>Adam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55.85</c:v>
                </c:pt>
                <c:pt idx="1">
                  <c:v>58.99</c:v>
                </c:pt>
                <c:pt idx="2">
                  <c:v>52.57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F31D-40A4-BE50-3D064857153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B3B3B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28282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B3B3B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1E1E1E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038314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E75480"/>
          </a:solidFill>
          <a:ln w="12700">
            <a:solidFill>
              <a:srgbClr val="E7548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0" y="-457200"/>
            <a:ext cx="4572000" cy="4572000"/>
          </a:xfrm>
          <a:prstGeom prst="ellipse">
            <a:avLst/>
          </a:prstGeom>
          <a:solidFill>
            <a:srgbClr val="E75480">
              <a:alpha val="10000"/>
            </a:srgbClr>
          </a:solidFill>
          <a:ln w="12700">
            <a:solidFill>
              <a:srgbClr val="E75480">
                <a:alpha val="1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0" y="2286000"/>
            <a:ext cx="3200400" cy="3200400"/>
          </a:xfrm>
          <a:prstGeom prst="ellipse">
            <a:avLst/>
          </a:prstGeom>
          <a:solidFill>
            <a:srgbClr val="1DB954">
              <a:alpha val="10000"/>
            </a:srgbClr>
          </a:solidFill>
          <a:ln w="12700">
            <a:solidFill>
              <a:srgbClr val="1DB954">
                <a:alpha val="1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822960"/>
            <a:ext cx="2011680" cy="292608"/>
          </a:xfrm>
          <a:prstGeom prst="rect">
            <a:avLst/>
          </a:prstGeom>
          <a:solidFill>
            <a:srgbClr val="E75480"/>
          </a:solidFill>
          <a:ln w="12700">
            <a:solidFill>
              <a:srgbClr val="E7548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22960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300" dirty="0">
                <a:solidFill>
                  <a:srgbClr val="FFFFFF"/>
                </a:solidFill>
              </a:rPr>
              <a:t>AI PROJECT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23444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InstruNet AI</a:t>
            </a:r>
            <a:endParaRPr lang="en-US" sz="5400" dirty="0"/>
          </a:p>
        </p:txBody>
      </p:sp>
      <p:sp>
        <p:nvSpPr>
          <p:cNvPr id="8" name="Shape 6"/>
          <p:cNvSpPr/>
          <p:nvPr/>
        </p:nvSpPr>
        <p:spPr>
          <a:xfrm>
            <a:off x="457200" y="2331720"/>
            <a:ext cx="5029200" cy="45720"/>
          </a:xfrm>
          <a:prstGeom prst="rect">
            <a:avLst/>
          </a:prstGeom>
          <a:solidFill>
            <a:srgbClr val="E75480"/>
          </a:solidFill>
          <a:ln w="12700">
            <a:solidFill>
              <a:srgbClr val="E7548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4231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B3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Music Instrument Recognition System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57200" y="28346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353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Convolutional Neural Networks &amp; Mel-Spectrograms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3474720"/>
            <a:ext cx="4114800" cy="1188720"/>
          </a:xfrm>
          <a:prstGeom prst="rect">
            <a:avLst/>
          </a:prstGeom>
          <a:solidFill>
            <a:srgbClr val="1E1E1E"/>
          </a:solidFill>
          <a:ln w="12700">
            <a:solidFill>
              <a:srgbClr val="282828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" y="3474720"/>
            <a:ext cx="54864" cy="1188720"/>
          </a:xfrm>
          <a:prstGeom prst="rect">
            <a:avLst/>
          </a:prstGeom>
          <a:solidFill>
            <a:srgbClr val="1DB954"/>
          </a:solidFill>
          <a:ln w="12700">
            <a:solidFill>
              <a:srgbClr val="1DB95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3547872"/>
            <a:ext cx="38404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Nitika Singh</a:t>
            </a:r>
            <a:endParaRPr lang="en-US" sz="1400" dirty="0"/>
          </a:p>
          <a:p>
            <a:pPr marL="0" indent="0">
              <a:buNone/>
            </a:pPr>
            <a:r>
              <a:rPr lang="en-US" sz="1100" dirty="0">
                <a:solidFill>
                  <a:srgbClr val="B3B3B3"/>
                </a:solidFill>
              </a:rPr>
              <a:t>CNN-Based Music Instrument Recognition</a:t>
            </a:r>
            <a:endParaRPr lang="en-US" sz="1400" dirty="0"/>
          </a:p>
          <a:p>
            <a:pPr marL="0" indent="0">
              <a:buNone/>
            </a:pPr>
            <a:r>
              <a:rPr lang="en-US" sz="1000" dirty="0">
                <a:solidFill>
                  <a:srgbClr val="535353"/>
                </a:solidFill>
              </a:rPr>
              <a:t>Mentor Guided Project  ·  2025–2026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36576"/>
          </a:xfrm>
          <a:prstGeom prst="rect">
            <a:avLst/>
          </a:prstGeom>
          <a:solidFill>
            <a:srgbClr val="E75480"/>
          </a:solidFill>
          <a:ln w="12700">
            <a:solidFill>
              <a:srgbClr val="E7548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046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Problem Statement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8503920" y="91440"/>
            <a:ext cx="502920" cy="502920"/>
          </a:xfrm>
          <a:prstGeom prst="rect">
            <a:avLst/>
          </a:prstGeom>
          <a:solidFill>
            <a:srgbClr val="E75480">
              <a:alpha val="20000"/>
            </a:srgbClr>
          </a:solidFill>
          <a:ln w="12700">
            <a:solidFill>
              <a:srgbClr val="E7548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03920" y="914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75480"/>
                </a:solidFill>
              </a:rPr>
              <a:t>02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74320" y="960120"/>
            <a:ext cx="2743200" cy="2103120"/>
          </a:xfrm>
          <a:prstGeom prst="rect">
            <a:avLst/>
          </a:prstGeom>
          <a:solidFill>
            <a:srgbClr val="1E1E1E"/>
          </a:solidFill>
          <a:ln w="12700">
            <a:solidFill>
              <a:srgbClr val="282828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960120"/>
            <a:ext cx="2743200" cy="54864"/>
          </a:xfrm>
          <a:prstGeom prst="rect">
            <a:avLst/>
          </a:prstGeom>
          <a:solidFill>
            <a:srgbClr val="E75480"/>
          </a:solidFill>
          <a:ln w="12700">
            <a:solidFill>
              <a:srgbClr val="E7548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105156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🎵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411480" y="164592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Manual Labeling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11480" y="2029968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3B3B3"/>
                </a:solidFill>
              </a:rPr>
              <a:t>Identifying instruments in music is time-consuming and error-prone when done manually by humans.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00400" y="960120"/>
            <a:ext cx="2743200" cy="2103120"/>
          </a:xfrm>
          <a:prstGeom prst="rect">
            <a:avLst/>
          </a:prstGeom>
          <a:solidFill>
            <a:srgbClr val="1E1E1E"/>
          </a:solidFill>
          <a:ln w="12700">
            <a:solidFill>
              <a:srgbClr val="282828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0" y="960120"/>
            <a:ext cx="2743200" cy="54864"/>
          </a:xfrm>
          <a:prstGeom prst="rect">
            <a:avLst/>
          </a:prstGeom>
          <a:solidFill>
            <a:srgbClr val="E75480"/>
          </a:solidFill>
          <a:ln w="12700">
            <a:solidFill>
              <a:srgbClr val="E7548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00400" y="105156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🔍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3337560" y="164592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Scale Challenge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337560" y="2029968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3B3B3"/>
                </a:solidFill>
              </a:rPr>
              <a:t>Millions of audio tracks on streaming platforms cannot be labeled manually at scale.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126480" y="960120"/>
            <a:ext cx="2743200" cy="2103120"/>
          </a:xfrm>
          <a:prstGeom prst="rect">
            <a:avLst/>
          </a:prstGeom>
          <a:solidFill>
            <a:srgbClr val="1E1E1E"/>
          </a:solidFill>
          <a:ln w="12700">
            <a:solidFill>
              <a:srgbClr val="282828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126480" y="960120"/>
            <a:ext cx="2743200" cy="54864"/>
          </a:xfrm>
          <a:prstGeom prst="rect">
            <a:avLst/>
          </a:prstGeom>
          <a:solidFill>
            <a:srgbClr val="E75480"/>
          </a:solidFill>
          <a:ln w="12700">
            <a:solidFill>
              <a:srgbClr val="E7548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126480" y="105156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🎯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6263640" y="164592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Multi-Instrument Tracks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263640" y="2029968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3B3B3"/>
                </a:solidFill>
              </a:rPr>
              <a:t>Real music contains multiple instruments playing simultaneously, making recognition harder.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74320" y="3246120"/>
            <a:ext cx="8595360" cy="1508760"/>
          </a:xfrm>
          <a:prstGeom prst="rect">
            <a:avLst/>
          </a:prstGeom>
          <a:solidFill>
            <a:srgbClr val="282828"/>
          </a:solidFill>
          <a:ln w="12700">
            <a:solidFill>
              <a:srgbClr val="282828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274320" y="3246120"/>
            <a:ext cx="54864" cy="1508760"/>
          </a:xfrm>
          <a:prstGeom prst="rect">
            <a:avLst/>
          </a:prstGeom>
          <a:solidFill>
            <a:srgbClr val="1DB954"/>
          </a:solidFill>
          <a:ln w="12700">
            <a:solidFill>
              <a:srgbClr val="1DB95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32918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DB954"/>
                </a:solidFill>
              </a:rPr>
              <a:t>Why It Matters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57200" y="3630168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3B3B3"/>
                </a:solidFill>
              </a:rPr>
              <a:t>🎵  Music recommendation engines need instrument data to suggest similar tracks
🎬  Audio tagging and indexing for streaming platforms like Spotify and YouTube
🎛️  Music remixing tools need to isolate individual instruments automatically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36576"/>
          </a:xfrm>
          <a:prstGeom prst="rect">
            <a:avLst/>
          </a:prstGeom>
          <a:solidFill>
            <a:srgbClr val="E75480"/>
          </a:solidFill>
          <a:ln w="12700">
            <a:solidFill>
              <a:srgbClr val="E7548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046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System Overview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8503920" y="91440"/>
            <a:ext cx="502920" cy="502920"/>
          </a:xfrm>
          <a:prstGeom prst="rect">
            <a:avLst/>
          </a:prstGeom>
          <a:solidFill>
            <a:srgbClr val="E75480">
              <a:alpha val="20000"/>
            </a:srgbClr>
          </a:solidFill>
          <a:ln w="12700">
            <a:solidFill>
              <a:srgbClr val="E7548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03920" y="914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75480"/>
                </a:solidFill>
              </a:rPr>
              <a:t>03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82880" y="1005840"/>
            <a:ext cx="1554480" cy="1920240"/>
          </a:xfrm>
          <a:prstGeom prst="rect">
            <a:avLst/>
          </a:prstGeom>
          <a:solidFill>
            <a:srgbClr val="1E1E1E"/>
          </a:solidFill>
          <a:ln w="12700">
            <a:solidFill>
              <a:srgbClr val="282828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82880" y="1005840"/>
            <a:ext cx="1554480" cy="45720"/>
          </a:xfrm>
          <a:prstGeom prst="rect">
            <a:avLst/>
          </a:prstGeom>
          <a:solidFill>
            <a:srgbClr val="E75480"/>
          </a:solidFill>
          <a:ln w="12700">
            <a:solidFill>
              <a:srgbClr val="E7548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82880" y="1078992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🎵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274320" y="1664208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Audio Input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28600" y="2057400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3B3B3"/>
                </a:solidFill>
              </a:rPr>
              <a:t>WAV / MP3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B3B3B3"/>
                </a:solidFill>
              </a:rPr>
              <a:t>OGG / FLAC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28600" y="269748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75480"/>
                </a:solidFill>
              </a:rPr>
              <a:t>1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755648" y="1856232"/>
            <a:ext cx="182880" cy="45720"/>
          </a:xfrm>
          <a:prstGeom prst="rect">
            <a:avLst/>
          </a:prstGeom>
          <a:solidFill>
            <a:srgbClr val="E75480"/>
          </a:solidFill>
          <a:ln w="12700">
            <a:solidFill>
              <a:srgbClr val="E7548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965960" y="1005840"/>
            <a:ext cx="1554480" cy="1920240"/>
          </a:xfrm>
          <a:prstGeom prst="rect">
            <a:avLst/>
          </a:prstGeom>
          <a:solidFill>
            <a:srgbClr val="1E1E1E"/>
          </a:solidFill>
          <a:ln w="12700">
            <a:solidFill>
              <a:srgbClr val="282828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1965960" y="1005840"/>
            <a:ext cx="1554480" cy="45720"/>
          </a:xfrm>
          <a:prstGeom prst="rect">
            <a:avLst/>
          </a:prstGeom>
          <a:solidFill>
            <a:srgbClr val="E75480"/>
          </a:solidFill>
          <a:ln w="12700">
            <a:solidFill>
              <a:srgbClr val="E7548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965960" y="1078992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⚙️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2057400" y="1664208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Preprocessing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011680" y="2057400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3B3B3"/>
                </a:solidFill>
              </a:rPr>
              <a:t>Resample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B3B3B3"/>
                </a:solidFill>
              </a:rPr>
              <a:t>Trim · Normalize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2011680" y="269748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75480"/>
                </a:solidFill>
              </a:rPr>
              <a:t>2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538728" y="1856232"/>
            <a:ext cx="182880" cy="45720"/>
          </a:xfrm>
          <a:prstGeom prst="rect">
            <a:avLst/>
          </a:prstGeom>
          <a:solidFill>
            <a:srgbClr val="E75480"/>
          </a:solidFill>
          <a:ln w="12700">
            <a:solidFill>
              <a:srgbClr val="E7548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749040" y="1005840"/>
            <a:ext cx="1554480" cy="1920240"/>
          </a:xfrm>
          <a:prstGeom prst="rect">
            <a:avLst/>
          </a:prstGeom>
          <a:solidFill>
            <a:srgbClr val="1E1E1E"/>
          </a:solidFill>
          <a:ln w="12700">
            <a:solidFill>
              <a:srgbClr val="282828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749040" y="1005840"/>
            <a:ext cx="1554480" cy="45720"/>
          </a:xfrm>
          <a:prstGeom prst="rect">
            <a:avLst/>
          </a:prstGeom>
          <a:solidFill>
            <a:srgbClr val="E75480"/>
          </a:solidFill>
          <a:ln w="12700">
            <a:solidFill>
              <a:srgbClr val="E7548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749040" y="1078992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3840480" y="1664208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Mel-Spectrogram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794760" y="2057400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3B3B3"/>
                </a:solidFill>
              </a:rPr>
              <a:t>128×128×3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B3B3B3"/>
                </a:solidFill>
              </a:rPr>
              <a:t>Delta features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794760" y="269748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75480"/>
                </a:solidFill>
              </a:rPr>
              <a:t>3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321808" y="1856232"/>
            <a:ext cx="182880" cy="45720"/>
          </a:xfrm>
          <a:prstGeom prst="rect">
            <a:avLst/>
          </a:prstGeom>
          <a:solidFill>
            <a:srgbClr val="E75480"/>
          </a:solidFill>
          <a:ln w="12700">
            <a:solidFill>
              <a:srgbClr val="E7548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532120" y="1005840"/>
            <a:ext cx="1554480" cy="1920240"/>
          </a:xfrm>
          <a:prstGeom prst="rect">
            <a:avLst/>
          </a:prstGeom>
          <a:solidFill>
            <a:srgbClr val="1E1E1E"/>
          </a:solidFill>
          <a:ln w="12700">
            <a:solidFill>
              <a:srgbClr val="282828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5532120" y="1005840"/>
            <a:ext cx="1554480" cy="45720"/>
          </a:xfrm>
          <a:prstGeom prst="rect">
            <a:avLst/>
          </a:prstGeom>
          <a:solidFill>
            <a:srgbClr val="E75480"/>
          </a:solidFill>
          <a:ln w="12700">
            <a:solidFill>
              <a:srgbClr val="E7548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532120" y="1078992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🧠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5623560" y="1664208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CNN Model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577840" y="2057400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3B3B3"/>
                </a:solidFill>
              </a:rPr>
              <a:t>4-Block CNN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B3B3B3"/>
                </a:solidFill>
              </a:rPr>
              <a:t>Sigmoid output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577840" y="269748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75480"/>
                </a:solidFill>
              </a:rPr>
              <a:t>4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7104888" y="1856232"/>
            <a:ext cx="182880" cy="45720"/>
          </a:xfrm>
          <a:prstGeom prst="rect">
            <a:avLst/>
          </a:prstGeom>
          <a:solidFill>
            <a:srgbClr val="E75480"/>
          </a:solidFill>
          <a:ln w="12700">
            <a:solidFill>
              <a:srgbClr val="E7548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315200" y="1005840"/>
            <a:ext cx="1554480" cy="1920240"/>
          </a:xfrm>
          <a:prstGeom prst="rect">
            <a:avLst/>
          </a:prstGeom>
          <a:solidFill>
            <a:srgbClr val="1E1E1E"/>
          </a:solidFill>
          <a:ln w="12700">
            <a:solidFill>
              <a:srgbClr val="282828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7315200" y="1005840"/>
            <a:ext cx="1554480" cy="45720"/>
          </a:xfrm>
          <a:prstGeom prst="rect">
            <a:avLst/>
          </a:prstGeom>
          <a:solidFill>
            <a:srgbClr val="E75480"/>
          </a:solidFill>
          <a:ln w="12700">
            <a:solidFill>
              <a:srgbClr val="E7548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315200" y="1078992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🎯</a:t>
            </a:r>
            <a:endParaRPr lang="en-US" sz="2200" dirty="0"/>
          </a:p>
        </p:txBody>
      </p:sp>
      <p:sp>
        <p:nvSpPr>
          <p:cNvPr id="38" name="Text 36"/>
          <p:cNvSpPr/>
          <p:nvPr/>
        </p:nvSpPr>
        <p:spPr>
          <a:xfrm>
            <a:off x="7406640" y="1664208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Detection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7360920" y="2057400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3B3B3"/>
                </a:solidFill>
              </a:rPr>
              <a:t>Threshold 0.3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B3B3B3"/>
                </a:solidFill>
              </a:rPr>
              <a:t>Smoothing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7360920" y="269748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75480"/>
                </a:solidFill>
              </a:rPr>
              <a:t>5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182880" y="3108960"/>
            <a:ext cx="8778240" cy="1691640"/>
          </a:xfrm>
          <a:prstGeom prst="rect">
            <a:avLst/>
          </a:prstGeom>
          <a:solidFill>
            <a:srgbClr val="1E1E1E"/>
          </a:solidFill>
          <a:ln w="12700">
            <a:solidFill>
              <a:srgbClr val="282828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182880" y="3108960"/>
            <a:ext cx="54864" cy="1691640"/>
          </a:xfrm>
          <a:prstGeom prst="rect">
            <a:avLst/>
          </a:prstGeom>
          <a:solidFill>
            <a:srgbClr val="1DB954"/>
          </a:solidFill>
          <a:ln w="12700">
            <a:solidFill>
              <a:srgbClr val="1DB954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65760" y="31546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DB954"/>
                </a:solidFill>
              </a:rPr>
              <a:t>Output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365760" y="3547872"/>
            <a:ext cx="4206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3B3B3"/>
                </a:solidFill>
              </a:rPr>
              <a:t>🎸  Detected instruments with confidence %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365760" y="3986784"/>
            <a:ext cx="4206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3B3B3"/>
                </a:solidFill>
              </a:rPr>
              <a:t>📈  Timeline graph per segment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4754880" y="3547872"/>
            <a:ext cx="4206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3B3B3"/>
                </a:solidFill>
              </a:rPr>
              <a:t>📥  JSON / TXT report export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4754880" y="3986784"/>
            <a:ext cx="4206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3B3B3"/>
                </a:solidFill>
              </a:rPr>
              <a:t>🌐  Interactive Streamlit dashboard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36576"/>
          </a:xfrm>
          <a:prstGeom prst="rect">
            <a:avLst/>
          </a:prstGeom>
          <a:solidFill>
            <a:srgbClr val="E75480"/>
          </a:solidFill>
          <a:ln w="12700">
            <a:solidFill>
              <a:srgbClr val="E7548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046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Methodology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8503920" y="91440"/>
            <a:ext cx="502920" cy="502920"/>
          </a:xfrm>
          <a:prstGeom prst="rect">
            <a:avLst/>
          </a:prstGeom>
          <a:solidFill>
            <a:srgbClr val="E75480">
              <a:alpha val="20000"/>
            </a:srgbClr>
          </a:solidFill>
          <a:ln w="12700">
            <a:solidFill>
              <a:srgbClr val="E7548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03920" y="914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75480"/>
                </a:solidFill>
              </a:rPr>
              <a:t>04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74320" y="868680"/>
            <a:ext cx="4114800" cy="3840480"/>
          </a:xfrm>
          <a:prstGeom prst="rect">
            <a:avLst/>
          </a:prstGeom>
          <a:solidFill>
            <a:srgbClr val="1E1E1E"/>
          </a:solidFill>
          <a:ln w="12700">
            <a:solidFill>
              <a:srgbClr val="282828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68680"/>
            <a:ext cx="4114800" cy="45720"/>
          </a:xfrm>
          <a:prstGeom prst="rect">
            <a:avLst/>
          </a:prstGeom>
          <a:solidFill>
            <a:srgbClr val="E75480"/>
          </a:solidFill>
          <a:ln w="12700">
            <a:solidFill>
              <a:srgbClr val="E7548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932688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Audio Preprocessing Pipeline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65760" y="1389888"/>
            <a:ext cx="256032" cy="256032"/>
          </a:xfrm>
          <a:prstGeom prst="ellipse">
            <a:avLst/>
          </a:prstGeom>
          <a:solidFill>
            <a:srgbClr val="E75480"/>
          </a:solidFill>
          <a:ln w="12700">
            <a:solidFill>
              <a:srgbClr val="E7548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1389888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1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685800" y="1389888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Load Audio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331720" y="1389888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3B3B3"/>
                </a:solidFill>
              </a:rPr>
              <a:t>Librosa · 22050 Hz sample rate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65760" y="1792224"/>
            <a:ext cx="256032" cy="256032"/>
          </a:xfrm>
          <a:prstGeom prst="ellipse">
            <a:avLst/>
          </a:prstGeom>
          <a:solidFill>
            <a:srgbClr val="E75480"/>
          </a:solidFill>
          <a:ln w="12700">
            <a:solidFill>
              <a:srgbClr val="E7548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1792224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2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685800" y="1792224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Stereo to Mono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331720" y="1792224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3B3B3"/>
                </a:solidFill>
              </a:rPr>
              <a:t>Single channel conversion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65760" y="2194560"/>
            <a:ext cx="256032" cy="256032"/>
          </a:xfrm>
          <a:prstGeom prst="ellipse">
            <a:avLst/>
          </a:prstGeom>
          <a:solidFill>
            <a:srgbClr val="E75480"/>
          </a:solidFill>
          <a:ln w="12700">
            <a:solidFill>
              <a:srgbClr val="E7548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219456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3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685800" y="2194560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Trim Silence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331720" y="2194560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3B3B3"/>
                </a:solidFill>
              </a:rPr>
              <a:t>top_db=30 threshold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65760" y="2596896"/>
            <a:ext cx="256032" cy="256032"/>
          </a:xfrm>
          <a:prstGeom prst="ellipse">
            <a:avLst/>
          </a:prstGeom>
          <a:solidFill>
            <a:srgbClr val="E75480"/>
          </a:solidFill>
          <a:ln w="12700">
            <a:solidFill>
              <a:srgbClr val="E7548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2596896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4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685800" y="2596896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Normalize Length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2331720" y="2596896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3B3B3"/>
                </a:solidFill>
              </a:rPr>
              <a:t>Fix to 3 seconds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65760" y="2999232"/>
            <a:ext cx="256032" cy="256032"/>
          </a:xfrm>
          <a:prstGeom prst="ellipse">
            <a:avLst/>
          </a:prstGeom>
          <a:solidFill>
            <a:srgbClr val="E75480"/>
          </a:solidFill>
          <a:ln w="12700">
            <a:solidFill>
              <a:srgbClr val="E7548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2999232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5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685800" y="299923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Mel-Spectrogram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2331720" y="2999232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3B3B3"/>
                </a:solidFill>
              </a:rPr>
              <a:t>128 mel bins · n_fft=2048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365760" y="3401568"/>
            <a:ext cx="256032" cy="256032"/>
          </a:xfrm>
          <a:prstGeom prst="ellipse">
            <a:avLst/>
          </a:prstGeom>
          <a:solidFill>
            <a:srgbClr val="E75480"/>
          </a:solidFill>
          <a:ln w="12700">
            <a:solidFill>
              <a:srgbClr val="E7548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3401568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6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685800" y="3401568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Delta Features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2331720" y="3401568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3B3B3"/>
                </a:solidFill>
              </a:rPr>
              <a:t>Delta + Delta2 = 3 channels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365760" y="3803904"/>
            <a:ext cx="256032" cy="256032"/>
          </a:xfrm>
          <a:prstGeom prst="ellipse">
            <a:avLst/>
          </a:prstGeom>
          <a:solidFill>
            <a:srgbClr val="E75480"/>
          </a:solidFill>
          <a:ln w="12700">
            <a:solidFill>
              <a:srgbClr val="E7548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65760" y="3803904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7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685800" y="3803904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Save as .npy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2331720" y="3803904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3B3B3"/>
                </a:solidFill>
              </a:rPr>
              <a:t>Shape: (128, 128, 3)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4663440" y="868680"/>
            <a:ext cx="4206240" cy="3840480"/>
          </a:xfrm>
          <a:prstGeom prst="rect">
            <a:avLst/>
          </a:prstGeom>
          <a:solidFill>
            <a:srgbClr val="1E1E1E"/>
          </a:solidFill>
          <a:ln w="12700">
            <a:solidFill>
              <a:srgbClr val="282828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4663440" y="868680"/>
            <a:ext cx="4206240" cy="45720"/>
          </a:xfrm>
          <a:prstGeom prst="rect">
            <a:avLst/>
          </a:prstGeom>
          <a:solidFill>
            <a:srgbClr val="1DB954"/>
          </a:solidFill>
          <a:ln w="12700">
            <a:solidFill>
              <a:srgbClr val="1DB954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754880" y="932688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Augmentation and Training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4754880" y="1389888"/>
            <a:ext cx="54864" cy="256032"/>
          </a:xfrm>
          <a:prstGeom prst="rect">
            <a:avLst/>
          </a:prstGeom>
          <a:solidFill>
            <a:srgbClr val="1DB954"/>
          </a:solidFill>
          <a:ln w="12700">
            <a:solidFill>
              <a:srgbClr val="1DB954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892040" y="1389888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Gaussian Noise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6629400" y="1389888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3B3B3"/>
                </a:solidFill>
              </a:rPr>
              <a:t>stddev=0.02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4754880" y="1792224"/>
            <a:ext cx="54864" cy="256032"/>
          </a:xfrm>
          <a:prstGeom prst="rect">
            <a:avLst/>
          </a:prstGeom>
          <a:solidFill>
            <a:srgbClr val="1DB954"/>
          </a:solidFill>
          <a:ln w="12700">
            <a:solidFill>
              <a:srgbClr val="1DB954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892040" y="1792224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Time Masking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6629400" y="1792224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3B3B3"/>
                </a:solidFill>
              </a:rPr>
              <a:t>Up to 20% of frames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4754880" y="2194560"/>
            <a:ext cx="54864" cy="256032"/>
          </a:xfrm>
          <a:prstGeom prst="rect">
            <a:avLst/>
          </a:prstGeom>
          <a:solidFill>
            <a:srgbClr val="1DB954"/>
          </a:solidFill>
          <a:ln w="12700">
            <a:solidFill>
              <a:srgbClr val="1DB954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892040" y="2194560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Freq Masking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6629400" y="2194560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3B3B3"/>
                </a:solidFill>
              </a:rPr>
              <a:t>Up to 20% of freq bins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4754880" y="2596896"/>
            <a:ext cx="54864" cy="256032"/>
          </a:xfrm>
          <a:prstGeom prst="rect">
            <a:avLst/>
          </a:prstGeom>
          <a:solidFill>
            <a:srgbClr val="1DB954"/>
          </a:solidFill>
          <a:ln w="12700">
            <a:solidFill>
              <a:srgbClr val="1DB954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892040" y="2596896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Time Shift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6629400" y="2596896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3B3B3"/>
                </a:solidFill>
              </a:rPr>
              <a:t>Random roll +-10 frames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4754880" y="2999232"/>
            <a:ext cx="54864" cy="256032"/>
          </a:xfrm>
          <a:prstGeom prst="rect">
            <a:avLst/>
          </a:prstGeom>
          <a:solidFill>
            <a:srgbClr val="1DB954"/>
          </a:solidFill>
          <a:ln w="12700">
            <a:solidFill>
              <a:srgbClr val="1DB954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892040" y="2999232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Brightness Shift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6629400" y="2999232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3B3B3"/>
                </a:solidFill>
              </a:rPr>
              <a:t>Volume scale 0.75-1.25x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4754880" y="3401568"/>
            <a:ext cx="54864" cy="256032"/>
          </a:xfrm>
          <a:prstGeom prst="rect">
            <a:avLst/>
          </a:prstGeom>
          <a:solidFill>
            <a:srgbClr val="1DB954"/>
          </a:solidFill>
          <a:ln w="12700">
            <a:solidFill>
              <a:srgbClr val="1DB954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892040" y="3401568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Channel Dropout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6629400" y="3401568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3B3B3"/>
                </a:solidFill>
              </a:rPr>
              <a:t>Random delta channel zeroed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4754880" y="3803904"/>
            <a:ext cx="54864" cy="256032"/>
          </a:xfrm>
          <a:prstGeom prst="rect">
            <a:avLst/>
          </a:prstGeom>
          <a:solidFill>
            <a:srgbClr val="1DB954"/>
          </a:solidFill>
          <a:ln w="12700">
            <a:solidFill>
              <a:srgbClr val="1DB954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892040" y="3803904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Mixup alpha=0.2</a:t>
            </a:r>
            <a:endParaRPr lang="en-US" sz="1000" dirty="0"/>
          </a:p>
        </p:txBody>
      </p:sp>
      <p:sp>
        <p:nvSpPr>
          <p:cNvPr id="61" name="Text 59"/>
          <p:cNvSpPr/>
          <p:nvPr/>
        </p:nvSpPr>
        <p:spPr>
          <a:xfrm>
            <a:off x="6629400" y="3803904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3B3B3"/>
                </a:solidFill>
              </a:rPr>
              <a:t>Blend two samples + labels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36576"/>
          </a:xfrm>
          <a:prstGeom prst="rect">
            <a:avLst/>
          </a:prstGeom>
          <a:solidFill>
            <a:srgbClr val="E75480"/>
          </a:solidFill>
          <a:ln w="12700">
            <a:solidFill>
              <a:srgbClr val="E7548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046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Model Architecture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8503920" y="91440"/>
            <a:ext cx="502920" cy="502920"/>
          </a:xfrm>
          <a:prstGeom prst="rect">
            <a:avLst/>
          </a:prstGeom>
          <a:solidFill>
            <a:srgbClr val="E75480">
              <a:alpha val="20000"/>
            </a:srgbClr>
          </a:solidFill>
          <a:ln w="12700">
            <a:solidFill>
              <a:srgbClr val="E7548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03920" y="914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75480"/>
                </a:solidFill>
              </a:rPr>
              <a:t>05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37160" y="1645920"/>
            <a:ext cx="1005840" cy="914400"/>
          </a:xfrm>
          <a:prstGeom prst="rect">
            <a:avLst/>
          </a:prstGeom>
          <a:solidFill>
            <a:srgbClr val="535353"/>
          </a:solidFill>
          <a:ln w="12700">
            <a:solidFill>
              <a:srgbClr val="535353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37160" y="1719072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Input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37160" y="2029968"/>
            <a:ext cx="10058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</a:rPr>
              <a:t>(128,128,3)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1161288" y="2057400"/>
            <a:ext cx="73152" cy="45720"/>
          </a:xfrm>
          <a:prstGeom prst="rect">
            <a:avLst/>
          </a:prstGeom>
          <a:solidFill>
            <a:srgbClr val="B3B3B3"/>
          </a:solidFill>
          <a:ln w="12700">
            <a:solidFill>
              <a:srgbClr val="B3B3B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252728" y="1188720"/>
            <a:ext cx="1005840" cy="1828800"/>
          </a:xfrm>
          <a:prstGeom prst="rect">
            <a:avLst/>
          </a:prstGeom>
          <a:solidFill>
            <a:srgbClr val="E75480"/>
          </a:solidFill>
          <a:ln w="12700">
            <a:solidFill>
              <a:srgbClr val="E75480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1252728" y="1261872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Block 1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252728" y="1572768"/>
            <a:ext cx="100584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</a:rPr>
              <a:t>Conv2D(32)x2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</a:rPr>
              <a:t>BN+ReLU+Pool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</a:rPr>
              <a:t>Dropout 0.1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2276856" y="2057400"/>
            <a:ext cx="73152" cy="45720"/>
          </a:xfrm>
          <a:prstGeom prst="rect">
            <a:avLst/>
          </a:prstGeom>
          <a:solidFill>
            <a:srgbClr val="B3B3B3"/>
          </a:solidFill>
          <a:ln w="12700">
            <a:solidFill>
              <a:srgbClr val="B3B3B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368296" y="1188720"/>
            <a:ext cx="1005840" cy="1828800"/>
          </a:xfrm>
          <a:prstGeom prst="rect">
            <a:avLst/>
          </a:prstGeom>
          <a:solidFill>
            <a:srgbClr val="C0406A"/>
          </a:solidFill>
          <a:ln w="12700">
            <a:solidFill>
              <a:srgbClr val="C0406A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2368296" y="1261872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Block 2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368296" y="1572768"/>
            <a:ext cx="100584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</a:rPr>
              <a:t>Conv2D(64)x2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</a:rPr>
              <a:t>BN+ReLU+Pool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</a:rPr>
              <a:t>Dropout 0.1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3392424" y="2057400"/>
            <a:ext cx="73152" cy="45720"/>
          </a:xfrm>
          <a:prstGeom prst="rect">
            <a:avLst/>
          </a:prstGeom>
          <a:solidFill>
            <a:srgbClr val="B3B3B3"/>
          </a:solidFill>
          <a:ln w="12700">
            <a:solidFill>
              <a:srgbClr val="B3B3B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483864" y="1188720"/>
            <a:ext cx="1005840" cy="1828800"/>
          </a:xfrm>
          <a:prstGeom prst="rect">
            <a:avLst/>
          </a:prstGeom>
          <a:solidFill>
            <a:srgbClr val="A03060"/>
          </a:solidFill>
          <a:ln w="12700">
            <a:solidFill>
              <a:srgbClr val="A03060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483864" y="1261872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Block 3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483864" y="1572768"/>
            <a:ext cx="100584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</a:rPr>
              <a:t>Conv2D(128)x2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</a:rPr>
              <a:t>BN+ReLU+Pool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</a:rPr>
              <a:t>Dropout 0.3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4507992" y="2057400"/>
            <a:ext cx="73152" cy="45720"/>
          </a:xfrm>
          <a:prstGeom prst="rect">
            <a:avLst/>
          </a:prstGeom>
          <a:solidFill>
            <a:srgbClr val="B3B3B3"/>
          </a:solidFill>
          <a:ln w="12700">
            <a:solidFill>
              <a:srgbClr val="B3B3B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99432" y="1188720"/>
            <a:ext cx="1005840" cy="1828800"/>
          </a:xfrm>
          <a:prstGeom prst="rect">
            <a:avLst/>
          </a:prstGeom>
          <a:solidFill>
            <a:srgbClr val="802050"/>
          </a:solidFill>
          <a:ln w="12700">
            <a:solidFill>
              <a:srgbClr val="802050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599432" y="1261872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Block 4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599432" y="1572768"/>
            <a:ext cx="100584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</a:rPr>
              <a:t>Conv2D(256)x2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</a:rPr>
              <a:t>BN+ReLU+Pool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</a:rPr>
              <a:t>Dropout 0.4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5623560" y="2057400"/>
            <a:ext cx="73152" cy="45720"/>
          </a:xfrm>
          <a:prstGeom prst="rect">
            <a:avLst/>
          </a:prstGeom>
          <a:solidFill>
            <a:srgbClr val="B3B3B3"/>
          </a:solidFill>
          <a:ln w="12700">
            <a:solidFill>
              <a:srgbClr val="B3B3B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715000" y="1417320"/>
            <a:ext cx="1005840" cy="1371600"/>
          </a:xfrm>
          <a:prstGeom prst="rect">
            <a:avLst/>
          </a:prstGeom>
          <a:solidFill>
            <a:srgbClr val="1DB954"/>
          </a:solidFill>
          <a:ln w="12700">
            <a:solidFill>
              <a:srgbClr val="1DB954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715000" y="1490472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GAP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715000" y="1801368"/>
            <a:ext cx="100584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</a:rPr>
              <a:t>Global Avg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</a:rPr>
              <a:t>Pooling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6739128" y="2057400"/>
            <a:ext cx="73152" cy="45720"/>
          </a:xfrm>
          <a:prstGeom prst="rect">
            <a:avLst/>
          </a:prstGeom>
          <a:solidFill>
            <a:srgbClr val="B3B3B3"/>
          </a:solidFill>
          <a:ln w="12700">
            <a:solidFill>
              <a:srgbClr val="B3B3B3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830568" y="1417320"/>
            <a:ext cx="1005840" cy="1371600"/>
          </a:xfrm>
          <a:prstGeom prst="rect">
            <a:avLst/>
          </a:prstGeom>
          <a:solidFill>
            <a:srgbClr val="18A045"/>
          </a:solidFill>
          <a:ln w="12700">
            <a:solidFill>
              <a:srgbClr val="18A045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6830568" y="1490472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Dense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830568" y="1801368"/>
            <a:ext cx="100584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</a:rPr>
              <a:t>Dense(128)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</a:rPr>
              <a:t>BN+Drop 0.5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7854696" y="2057400"/>
            <a:ext cx="73152" cy="45720"/>
          </a:xfrm>
          <a:prstGeom prst="rect">
            <a:avLst/>
          </a:prstGeom>
          <a:solidFill>
            <a:srgbClr val="B3B3B3"/>
          </a:solidFill>
          <a:ln w="12700">
            <a:solidFill>
              <a:srgbClr val="B3B3B3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946136" y="1645920"/>
            <a:ext cx="1005840" cy="914400"/>
          </a:xfrm>
          <a:prstGeom prst="rect">
            <a:avLst/>
          </a:prstGeom>
          <a:solidFill>
            <a:srgbClr val="128035"/>
          </a:solidFill>
          <a:ln w="12700">
            <a:solidFill>
              <a:srgbClr val="128035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7946136" y="1719072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Output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7946136" y="2029968"/>
            <a:ext cx="10058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</a:rPr>
              <a:t>Dense(11)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</a:rPr>
              <a:t>Sigmoid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182880" y="3246120"/>
            <a:ext cx="8778240" cy="1508760"/>
          </a:xfrm>
          <a:prstGeom prst="rect">
            <a:avLst/>
          </a:prstGeom>
          <a:solidFill>
            <a:srgbClr val="1E1E1E"/>
          </a:solidFill>
          <a:ln w="12700">
            <a:solidFill>
              <a:srgbClr val="282828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365760" y="32918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75480"/>
                </a:solidFill>
              </a:rPr>
              <a:t>Key Design Improvements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365760" y="365760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✅ Batch Normalization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365760" y="3950208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3B3B3"/>
                </a:solidFill>
              </a:rPr>
              <a:t>Stabilizes training in all 4 blocks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2560320" y="365760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✅ Progressive Dropout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2560320" y="3950208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3B3B3"/>
                </a:solidFill>
              </a:rPr>
              <a:t>0.1 to 0.1 to 0.3 to 0.4 to 0.5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4754880" y="365760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✅ Global Avg Pooling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4754880" y="3950208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3B3B3"/>
                </a:solidFill>
              </a:rPr>
              <a:t>Reduces overfitting vs Flatten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6949440" y="365760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✅ Sigmoid Output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6949440" y="3950208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3B3B3"/>
                </a:solidFill>
              </a:rPr>
              <a:t>Enables multi-label detection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36576"/>
          </a:xfrm>
          <a:prstGeom prst="rect">
            <a:avLst/>
          </a:prstGeom>
          <a:solidFill>
            <a:srgbClr val="E75480"/>
          </a:solidFill>
          <a:ln w="12700">
            <a:solidFill>
              <a:srgbClr val="E7548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046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Evaluation and Results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8503920" y="91440"/>
            <a:ext cx="502920" cy="502920"/>
          </a:xfrm>
          <a:prstGeom prst="rect">
            <a:avLst/>
          </a:prstGeom>
          <a:solidFill>
            <a:srgbClr val="E75480">
              <a:alpha val="20000"/>
            </a:srgbClr>
          </a:solidFill>
          <a:ln w="12700">
            <a:solidFill>
              <a:srgbClr val="E7548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03920" y="914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75480"/>
                </a:solidFill>
              </a:rPr>
              <a:t>06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82880" y="868680"/>
            <a:ext cx="2011680" cy="1005840"/>
          </a:xfrm>
          <a:prstGeom prst="rect">
            <a:avLst/>
          </a:prstGeom>
          <a:solidFill>
            <a:srgbClr val="1E1E1E"/>
          </a:solidFill>
          <a:ln w="12700">
            <a:solidFill>
              <a:srgbClr val="E75480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82880" y="868680"/>
            <a:ext cx="2011680" cy="45720"/>
          </a:xfrm>
          <a:prstGeom prst="rect">
            <a:avLst/>
          </a:prstGeom>
          <a:solidFill>
            <a:srgbClr val="E75480"/>
          </a:solidFill>
          <a:ln w="12700">
            <a:solidFill>
              <a:srgbClr val="E7548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82880" y="91440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E75480"/>
                </a:solidFill>
              </a:rPr>
              <a:t>66.2%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182880" y="150876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3B3B3"/>
                </a:solidFill>
              </a:rPr>
              <a:t>Overall Accuracy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423160" y="868680"/>
            <a:ext cx="2011680" cy="1005840"/>
          </a:xfrm>
          <a:prstGeom prst="rect">
            <a:avLst/>
          </a:prstGeom>
          <a:solidFill>
            <a:srgbClr val="1E1E1E"/>
          </a:solidFill>
          <a:ln w="12700">
            <a:solidFill>
              <a:srgbClr val="1DB954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423160" y="868680"/>
            <a:ext cx="2011680" cy="45720"/>
          </a:xfrm>
          <a:prstGeom prst="rect">
            <a:avLst/>
          </a:prstGeom>
          <a:solidFill>
            <a:srgbClr val="1DB954"/>
          </a:solidFill>
          <a:ln w="12700">
            <a:solidFill>
              <a:srgbClr val="1DB95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423160" y="91440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DB954"/>
                </a:solidFill>
              </a:rPr>
              <a:t>0.64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2423160" y="150876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3B3B3"/>
                </a:solidFill>
              </a:rPr>
              <a:t>Macro F1 Score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663440" y="868680"/>
            <a:ext cx="2011680" cy="1005840"/>
          </a:xfrm>
          <a:prstGeom prst="rect">
            <a:avLst/>
          </a:prstGeom>
          <a:solidFill>
            <a:srgbClr val="1E1E1E"/>
          </a:solidFill>
          <a:ln w="12700">
            <a:solidFill>
              <a:srgbClr val="9B4AD9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63440" y="868680"/>
            <a:ext cx="2011680" cy="45720"/>
          </a:xfrm>
          <a:prstGeom prst="rect">
            <a:avLst/>
          </a:prstGeom>
          <a:solidFill>
            <a:srgbClr val="9B4AD9"/>
          </a:solidFill>
          <a:ln w="12700">
            <a:solidFill>
              <a:srgbClr val="9B4AD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63440" y="91440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9B4AD9"/>
                </a:solidFill>
              </a:rPr>
              <a:t>0.923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4663440" y="150876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3B3B3"/>
                </a:solidFill>
              </a:rPr>
              <a:t>Macro AUC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903720" y="868680"/>
            <a:ext cx="2011680" cy="1005840"/>
          </a:xfrm>
          <a:prstGeom prst="rect">
            <a:avLst/>
          </a:prstGeom>
          <a:solidFill>
            <a:srgbClr val="1E1E1E"/>
          </a:solidFill>
          <a:ln w="12700">
            <a:solidFill>
              <a:srgbClr val="E09132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903720" y="868680"/>
            <a:ext cx="2011680" cy="45720"/>
          </a:xfrm>
          <a:prstGeom prst="rect">
            <a:avLst/>
          </a:prstGeom>
          <a:solidFill>
            <a:srgbClr val="E09132"/>
          </a:solidFill>
          <a:ln w="12700">
            <a:solidFill>
              <a:srgbClr val="E0913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903720" y="91440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E09132"/>
                </a:solidFill>
              </a:rPr>
              <a:t>11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6903720" y="150876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3B3B3"/>
                </a:solidFill>
              </a:rPr>
              <a:t>Instrument Classes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182880" y="2011680"/>
            <a:ext cx="5303520" cy="2743200"/>
          </a:xfrm>
          <a:prstGeom prst="rect">
            <a:avLst/>
          </a:prstGeom>
          <a:solidFill>
            <a:srgbClr val="1E1E1E"/>
          </a:solidFill>
          <a:ln w="12700">
            <a:solidFill>
              <a:srgbClr val="282828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20040" y="205740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Per-Class F1 Scores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274320" y="24231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3B3B3"/>
                </a:solidFill>
              </a:rPr>
              <a:t>Voice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2103120" y="242316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DB954"/>
                </a:solidFill>
              </a:rPr>
              <a:t>0.90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274320" y="280720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3B3B3"/>
                </a:solidFill>
              </a:rPr>
              <a:t>Piano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2103120" y="2807208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DB954"/>
                </a:solidFill>
              </a:rPr>
              <a:t>0.82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274320" y="3191256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3B3B3"/>
                </a:solidFill>
              </a:rPr>
              <a:t>Organ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2103120" y="3191256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8A045"/>
                </a:solidFill>
              </a:rPr>
              <a:t>0.77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274320" y="3575304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3B3B3"/>
                </a:solidFill>
              </a:rPr>
              <a:t>Acoustic Guitar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2103120" y="3575304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8A045"/>
                </a:solidFill>
              </a:rPr>
              <a:t>0.70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274320" y="3959352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3B3B3"/>
                </a:solidFill>
              </a:rPr>
              <a:t>Trumpet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2103120" y="3959352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8A045"/>
                </a:solidFill>
              </a:rPr>
              <a:t>0.70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274320" y="43434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3B3B3"/>
                </a:solidFill>
              </a:rPr>
              <a:t>Electric Guitar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2103120" y="434340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E09132"/>
                </a:solidFill>
              </a:rPr>
              <a:t>0.60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2834640" y="24231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3B3B3"/>
                </a:solidFill>
              </a:rPr>
              <a:t>Clarinet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663440" y="242316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E09132"/>
                </a:solidFill>
              </a:rPr>
              <a:t>0.54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2834640" y="280720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3B3B3"/>
                </a:solidFill>
              </a:rPr>
              <a:t>Saxophone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4663440" y="2807208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E09132"/>
                </a:solidFill>
              </a:rPr>
              <a:t>0.50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2834640" y="3191256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3B3B3"/>
                </a:solidFill>
              </a:rPr>
              <a:t>Violin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4663440" y="3191256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E09132"/>
                </a:solidFill>
              </a:rPr>
              <a:t>0.51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2834640" y="3575304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3B3B3"/>
                </a:solidFill>
              </a:rPr>
              <a:t>Cello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4663440" y="3575304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E75480"/>
                </a:solidFill>
              </a:rPr>
              <a:t>0.49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2834640" y="3959352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3B3B3"/>
                </a:solidFill>
              </a:rPr>
              <a:t>Flute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4663440" y="3959352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E75480"/>
                </a:solidFill>
              </a:rPr>
              <a:t>0.46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5669280" y="2011680"/>
            <a:ext cx="3291840" cy="2743200"/>
          </a:xfrm>
          <a:prstGeom prst="rect">
            <a:avLst/>
          </a:prstGeom>
          <a:solidFill>
            <a:srgbClr val="1E1E1E"/>
          </a:solidFill>
          <a:ln w="12700">
            <a:solidFill>
              <a:srgbClr val="282828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48" name="Text 46"/>
          <p:cNvSpPr/>
          <p:nvPr/>
        </p:nvSpPr>
        <p:spPr>
          <a:xfrm>
            <a:off x="5806440" y="205740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Optimizer Comparison (10 epochs)</a:t>
            </a:r>
            <a:endParaRPr lang="en-US" sz="1000" dirty="0"/>
          </a:p>
        </p:txBody>
      </p:sp>
      <p:graphicFrame>
        <p:nvGraphicFramePr>
          <p:cNvPr id="49" name="Chart 0"/>
          <p:cNvGraphicFramePr/>
          <p:nvPr/>
        </p:nvGraphicFramePr>
        <p:xfrm>
          <a:off x="5669280" y="2377440"/>
          <a:ext cx="3291840" cy="2286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36576"/>
          </a:xfrm>
          <a:prstGeom prst="rect">
            <a:avLst/>
          </a:prstGeom>
          <a:solidFill>
            <a:srgbClr val="E75480"/>
          </a:solidFill>
          <a:ln w="12700">
            <a:solidFill>
              <a:srgbClr val="E7548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046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Prediction Pipeline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8503920" y="91440"/>
            <a:ext cx="502920" cy="502920"/>
          </a:xfrm>
          <a:prstGeom prst="rect">
            <a:avLst/>
          </a:prstGeom>
          <a:solidFill>
            <a:srgbClr val="E75480">
              <a:alpha val="20000"/>
            </a:srgbClr>
          </a:solidFill>
          <a:ln w="12700">
            <a:solidFill>
              <a:srgbClr val="E7548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03920" y="914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75480"/>
                </a:solidFill>
              </a:rPr>
              <a:t>07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37160" y="868680"/>
            <a:ext cx="1143000" cy="2926080"/>
          </a:xfrm>
          <a:prstGeom prst="rect">
            <a:avLst/>
          </a:prstGeom>
          <a:solidFill>
            <a:srgbClr val="1E1E1E"/>
          </a:solidFill>
          <a:ln w="12700">
            <a:solidFill>
              <a:srgbClr val="282828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37160" y="868680"/>
            <a:ext cx="1143000" cy="45720"/>
          </a:xfrm>
          <a:prstGeom prst="rect">
            <a:avLst/>
          </a:prstGeom>
          <a:solidFill>
            <a:srgbClr val="E75480"/>
          </a:solidFill>
          <a:ln w="12700">
            <a:solidFill>
              <a:srgbClr val="E7548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37160" y="960120"/>
            <a:ext cx="1143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🎵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576072" y="1508760"/>
            <a:ext cx="274320" cy="274320"/>
          </a:xfrm>
          <a:prstGeom prst="ellipse">
            <a:avLst/>
          </a:prstGeom>
          <a:solidFill>
            <a:srgbClr val="E75480"/>
          </a:solidFill>
          <a:ln w="12700">
            <a:solidFill>
              <a:srgbClr val="E7548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37160" y="1508760"/>
            <a:ext cx="1143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1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82880" y="1847088"/>
            <a:ext cx="1051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Load Audio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82880" y="2258568"/>
            <a:ext cx="1051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B3B3B3"/>
                </a:solidFill>
              </a:rPr>
              <a:t>WAV/MP3/OGG/FLAC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B3B3B3"/>
                </a:solidFill>
              </a:rPr>
              <a:t>Mono 22050Hz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1298448" y="2130552"/>
            <a:ext cx="100584" cy="45720"/>
          </a:xfrm>
          <a:prstGeom prst="rect">
            <a:avLst/>
          </a:prstGeom>
          <a:solidFill>
            <a:srgbClr val="E75480"/>
          </a:solidFill>
          <a:ln w="12700">
            <a:solidFill>
              <a:srgbClr val="E7548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417320" y="868680"/>
            <a:ext cx="1143000" cy="2926080"/>
          </a:xfrm>
          <a:prstGeom prst="rect">
            <a:avLst/>
          </a:prstGeom>
          <a:solidFill>
            <a:srgbClr val="1E1E1E"/>
          </a:solidFill>
          <a:ln w="12700">
            <a:solidFill>
              <a:srgbClr val="282828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1417320" y="868680"/>
            <a:ext cx="1143000" cy="45720"/>
          </a:xfrm>
          <a:prstGeom prst="rect">
            <a:avLst/>
          </a:prstGeom>
          <a:solidFill>
            <a:srgbClr val="E75480"/>
          </a:solidFill>
          <a:ln w="12700">
            <a:solidFill>
              <a:srgbClr val="E7548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417320" y="960120"/>
            <a:ext cx="1143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✂️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1856232" y="1508760"/>
            <a:ext cx="274320" cy="274320"/>
          </a:xfrm>
          <a:prstGeom prst="ellipse">
            <a:avLst/>
          </a:prstGeom>
          <a:solidFill>
            <a:srgbClr val="E75480"/>
          </a:solidFill>
          <a:ln w="12700">
            <a:solidFill>
              <a:srgbClr val="E7548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417320" y="1508760"/>
            <a:ext cx="1143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2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463040" y="1847088"/>
            <a:ext cx="1051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Segmentation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463040" y="2258568"/>
            <a:ext cx="1051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B3B3B3"/>
                </a:solidFill>
              </a:rPr>
              <a:t>Split into 3s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B3B3B3"/>
                </a:solidFill>
              </a:rPr>
              <a:t>chunks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2578608" y="2130552"/>
            <a:ext cx="100584" cy="45720"/>
          </a:xfrm>
          <a:prstGeom prst="rect">
            <a:avLst/>
          </a:prstGeom>
          <a:solidFill>
            <a:srgbClr val="E75480"/>
          </a:solidFill>
          <a:ln w="12700">
            <a:solidFill>
              <a:srgbClr val="E7548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697480" y="868680"/>
            <a:ext cx="1143000" cy="2926080"/>
          </a:xfrm>
          <a:prstGeom prst="rect">
            <a:avLst/>
          </a:prstGeom>
          <a:solidFill>
            <a:srgbClr val="1E1E1E"/>
          </a:solidFill>
          <a:ln w="12700">
            <a:solidFill>
              <a:srgbClr val="282828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2697480" y="868680"/>
            <a:ext cx="1143000" cy="45720"/>
          </a:xfrm>
          <a:prstGeom prst="rect">
            <a:avLst/>
          </a:prstGeom>
          <a:solidFill>
            <a:srgbClr val="E75480"/>
          </a:solidFill>
          <a:ln w="12700">
            <a:solidFill>
              <a:srgbClr val="E7548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697480" y="960120"/>
            <a:ext cx="1143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📊</a:t>
            </a:r>
            <a:endParaRPr lang="en-US" sz="2000" dirty="0"/>
          </a:p>
        </p:txBody>
      </p:sp>
      <p:sp>
        <p:nvSpPr>
          <p:cNvPr id="26" name="Shape 24"/>
          <p:cNvSpPr/>
          <p:nvPr/>
        </p:nvSpPr>
        <p:spPr>
          <a:xfrm>
            <a:off x="3136392" y="1508760"/>
            <a:ext cx="274320" cy="274320"/>
          </a:xfrm>
          <a:prstGeom prst="ellipse">
            <a:avLst/>
          </a:prstGeom>
          <a:solidFill>
            <a:srgbClr val="E75480"/>
          </a:solidFill>
          <a:ln w="12700">
            <a:solidFill>
              <a:srgbClr val="E7548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697480" y="1508760"/>
            <a:ext cx="1143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3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2743200" y="1847088"/>
            <a:ext cx="1051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Feature Extract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2743200" y="2258568"/>
            <a:ext cx="1051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B3B3B3"/>
                </a:solidFill>
              </a:rPr>
              <a:t>Mel + Delta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B3B3B3"/>
                </a:solidFill>
              </a:rPr>
              <a:t>128x128x3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3858768" y="2130552"/>
            <a:ext cx="100584" cy="45720"/>
          </a:xfrm>
          <a:prstGeom prst="rect">
            <a:avLst/>
          </a:prstGeom>
          <a:solidFill>
            <a:srgbClr val="E75480"/>
          </a:solidFill>
          <a:ln w="12700">
            <a:solidFill>
              <a:srgbClr val="E7548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977640" y="868680"/>
            <a:ext cx="1143000" cy="2926080"/>
          </a:xfrm>
          <a:prstGeom prst="rect">
            <a:avLst/>
          </a:prstGeom>
          <a:solidFill>
            <a:srgbClr val="1E1E1E"/>
          </a:solidFill>
          <a:ln w="12700">
            <a:solidFill>
              <a:srgbClr val="282828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3977640" y="868680"/>
            <a:ext cx="1143000" cy="45720"/>
          </a:xfrm>
          <a:prstGeom prst="rect">
            <a:avLst/>
          </a:prstGeom>
          <a:solidFill>
            <a:srgbClr val="E75480"/>
          </a:solidFill>
          <a:ln w="12700">
            <a:solidFill>
              <a:srgbClr val="E7548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977640" y="960120"/>
            <a:ext cx="1143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⚖️</a:t>
            </a:r>
            <a:endParaRPr lang="en-US" sz="2000" dirty="0"/>
          </a:p>
        </p:txBody>
      </p:sp>
      <p:sp>
        <p:nvSpPr>
          <p:cNvPr id="34" name="Shape 32"/>
          <p:cNvSpPr/>
          <p:nvPr/>
        </p:nvSpPr>
        <p:spPr>
          <a:xfrm>
            <a:off x="4416552" y="1508760"/>
            <a:ext cx="274320" cy="274320"/>
          </a:xfrm>
          <a:prstGeom prst="ellipse">
            <a:avLst/>
          </a:prstGeom>
          <a:solidFill>
            <a:srgbClr val="E75480"/>
          </a:solidFill>
          <a:ln w="12700">
            <a:solidFill>
              <a:srgbClr val="E7548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977640" y="1508760"/>
            <a:ext cx="1143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4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023360" y="1847088"/>
            <a:ext cx="1051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Normalise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4023360" y="2258568"/>
            <a:ext cx="1051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B3B3B3"/>
                </a:solidFill>
              </a:rPr>
              <a:t>Z-score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B3B3B3"/>
                </a:solidFill>
              </a:rPr>
              <a:t>Mean=0 Var=1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5138928" y="2130552"/>
            <a:ext cx="100584" cy="45720"/>
          </a:xfrm>
          <a:prstGeom prst="rect">
            <a:avLst/>
          </a:prstGeom>
          <a:solidFill>
            <a:srgbClr val="E75480"/>
          </a:solidFill>
          <a:ln w="12700">
            <a:solidFill>
              <a:srgbClr val="E7548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257800" y="868680"/>
            <a:ext cx="1143000" cy="2926080"/>
          </a:xfrm>
          <a:prstGeom prst="rect">
            <a:avLst/>
          </a:prstGeom>
          <a:solidFill>
            <a:srgbClr val="1E1E1E"/>
          </a:solidFill>
          <a:ln w="12700">
            <a:solidFill>
              <a:srgbClr val="282828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5257800" y="868680"/>
            <a:ext cx="1143000" cy="45720"/>
          </a:xfrm>
          <a:prstGeom prst="rect">
            <a:avLst/>
          </a:prstGeom>
          <a:solidFill>
            <a:srgbClr val="1DB954"/>
          </a:solidFill>
          <a:ln w="12700">
            <a:solidFill>
              <a:srgbClr val="1DB954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257800" y="960120"/>
            <a:ext cx="1143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🧠</a:t>
            </a:r>
            <a:endParaRPr lang="en-US" sz="2000" dirty="0"/>
          </a:p>
        </p:txBody>
      </p:sp>
      <p:sp>
        <p:nvSpPr>
          <p:cNvPr id="42" name="Shape 40"/>
          <p:cNvSpPr/>
          <p:nvPr/>
        </p:nvSpPr>
        <p:spPr>
          <a:xfrm>
            <a:off x="5696712" y="1508760"/>
            <a:ext cx="274320" cy="274320"/>
          </a:xfrm>
          <a:prstGeom prst="ellipse">
            <a:avLst/>
          </a:prstGeom>
          <a:solidFill>
            <a:srgbClr val="1DB954"/>
          </a:solidFill>
          <a:ln w="12700">
            <a:solidFill>
              <a:srgbClr val="1DB954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257800" y="1508760"/>
            <a:ext cx="1143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5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5303520" y="1847088"/>
            <a:ext cx="1051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CNN Inference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5303520" y="2258568"/>
            <a:ext cx="1051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B3B3B3"/>
                </a:solidFill>
              </a:rPr>
              <a:t>Sigmoid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B3B3B3"/>
                </a:solidFill>
              </a:rPr>
              <a:t>probabilities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6419088" y="2130552"/>
            <a:ext cx="100584" cy="45720"/>
          </a:xfrm>
          <a:prstGeom prst="rect">
            <a:avLst/>
          </a:prstGeom>
          <a:solidFill>
            <a:srgbClr val="E75480"/>
          </a:solidFill>
          <a:ln w="12700">
            <a:solidFill>
              <a:srgbClr val="E7548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537960" y="868680"/>
            <a:ext cx="1143000" cy="2926080"/>
          </a:xfrm>
          <a:prstGeom prst="rect">
            <a:avLst/>
          </a:prstGeom>
          <a:solidFill>
            <a:srgbClr val="1E1E1E"/>
          </a:solidFill>
          <a:ln w="12700">
            <a:solidFill>
              <a:srgbClr val="282828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6537960" y="868680"/>
            <a:ext cx="1143000" cy="45720"/>
          </a:xfrm>
          <a:prstGeom prst="rect">
            <a:avLst/>
          </a:prstGeom>
          <a:solidFill>
            <a:srgbClr val="1DB954"/>
          </a:solidFill>
          <a:ln w="12700">
            <a:solidFill>
              <a:srgbClr val="1DB954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537960" y="960120"/>
            <a:ext cx="1143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🔄</a:t>
            </a:r>
            <a:endParaRPr lang="en-US" sz="2000" dirty="0"/>
          </a:p>
        </p:txBody>
      </p:sp>
      <p:sp>
        <p:nvSpPr>
          <p:cNvPr id="50" name="Shape 48"/>
          <p:cNvSpPr/>
          <p:nvPr/>
        </p:nvSpPr>
        <p:spPr>
          <a:xfrm>
            <a:off x="6976872" y="1508760"/>
            <a:ext cx="274320" cy="274320"/>
          </a:xfrm>
          <a:prstGeom prst="ellipse">
            <a:avLst/>
          </a:prstGeom>
          <a:solidFill>
            <a:srgbClr val="1DB954"/>
          </a:solidFill>
          <a:ln w="12700">
            <a:solidFill>
              <a:srgbClr val="1DB954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537960" y="1508760"/>
            <a:ext cx="1143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6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6583680" y="1847088"/>
            <a:ext cx="1051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Aggregation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6583680" y="2258568"/>
            <a:ext cx="1051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B3B3B3"/>
                </a:solidFill>
              </a:rPr>
              <a:t>Average segs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B3B3B3"/>
                </a:solidFill>
              </a:rPr>
              <a:t>Smoothing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7699248" y="2130552"/>
            <a:ext cx="100584" cy="45720"/>
          </a:xfrm>
          <a:prstGeom prst="rect">
            <a:avLst/>
          </a:prstGeom>
          <a:solidFill>
            <a:srgbClr val="E75480"/>
          </a:solidFill>
          <a:ln w="12700">
            <a:solidFill>
              <a:srgbClr val="E75480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7818120" y="868680"/>
            <a:ext cx="1143000" cy="2926080"/>
          </a:xfrm>
          <a:prstGeom prst="rect">
            <a:avLst/>
          </a:prstGeom>
          <a:solidFill>
            <a:srgbClr val="1E1E1E"/>
          </a:solidFill>
          <a:ln w="12700">
            <a:solidFill>
              <a:srgbClr val="282828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56" name="Shape 54"/>
          <p:cNvSpPr/>
          <p:nvPr/>
        </p:nvSpPr>
        <p:spPr>
          <a:xfrm>
            <a:off x="7818120" y="868680"/>
            <a:ext cx="1143000" cy="45720"/>
          </a:xfrm>
          <a:prstGeom prst="rect">
            <a:avLst/>
          </a:prstGeom>
          <a:solidFill>
            <a:srgbClr val="1DB954"/>
          </a:solidFill>
          <a:ln w="12700">
            <a:solidFill>
              <a:srgbClr val="1DB954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7818120" y="960120"/>
            <a:ext cx="1143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🎯</a:t>
            </a:r>
            <a:endParaRPr lang="en-US" sz="2000" dirty="0"/>
          </a:p>
        </p:txBody>
      </p:sp>
      <p:sp>
        <p:nvSpPr>
          <p:cNvPr id="58" name="Shape 56"/>
          <p:cNvSpPr/>
          <p:nvPr/>
        </p:nvSpPr>
        <p:spPr>
          <a:xfrm>
            <a:off x="8257032" y="1508760"/>
            <a:ext cx="274320" cy="274320"/>
          </a:xfrm>
          <a:prstGeom prst="ellipse">
            <a:avLst/>
          </a:prstGeom>
          <a:solidFill>
            <a:srgbClr val="1DB954"/>
          </a:solidFill>
          <a:ln w="12700">
            <a:solidFill>
              <a:srgbClr val="1DB954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7818120" y="1508760"/>
            <a:ext cx="1143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7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7863840" y="1847088"/>
            <a:ext cx="1051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Output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7863840" y="2258568"/>
            <a:ext cx="1051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B3B3B3"/>
                </a:solidFill>
              </a:rPr>
              <a:t>Threshold 0.30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B3B3B3"/>
                </a:solidFill>
              </a:rPr>
              <a:t>Instruments</a:t>
            </a:r>
            <a:endParaRPr lang="en-US" sz="800" dirty="0"/>
          </a:p>
        </p:txBody>
      </p:sp>
      <p:sp>
        <p:nvSpPr>
          <p:cNvPr id="62" name="Shape 60"/>
          <p:cNvSpPr/>
          <p:nvPr/>
        </p:nvSpPr>
        <p:spPr>
          <a:xfrm>
            <a:off x="182880" y="3977640"/>
            <a:ext cx="8778240" cy="822960"/>
          </a:xfrm>
          <a:prstGeom prst="rect">
            <a:avLst/>
          </a:prstGeom>
          <a:solidFill>
            <a:srgbClr val="282828"/>
          </a:solidFill>
          <a:ln w="12700">
            <a:solidFill>
              <a:srgbClr val="282828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182880" y="3977640"/>
            <a:ext cx="54864" cy="822960"/>
          </a:xfrm>
          <a:prstGeom prst="rect">
            <a:avLst/>
          </a:prstGeom>
          <a:solidFill>
            <a:srgbClr val="1DB954"/>
          </a:solidFill>
          <a:ln w="12700">
            <a:solidFill>
              <a:srgbClr val="1DB954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365760" y="4005072"/>
            <a:ext cx="8595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3B3B3"/>
                </a:solidFill>
              </a:rPr>
              <a:t>Why segmentation? A 20-second track splits into 7 segments of 3s each. Each segment is predicted independently, then averaged — this reduces noise and gives more robust results than single-pass prediction.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36576"/>
          </a:xfrm>
          <a:prstGeom prst="rect">
            <a:avLst/>
          </a:prstGeom>
          <a:solidFill>
            <a:srgbClr val="E75480"/>
          </a:solidFill>
          <a:ln w="12700">
            <a:solidFill>
              <a:srgbClr val="E7548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046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Web Interface — Streamlit Dashboard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8503920" y="91440"/>
            <a:ext cx="502920" cy="502920"/>
          </a:xfrm>
          <a:prstGeom prst="rect">
            <a:avLst/>
          </a:prstGeom>
          <a:solidFill>
            <a:srgbClr val="E75480">
              <a:alpha val="20000"/>
            </a:srgbClr>
          </a:solidFill>
          <a:ln w="12700">
            <a:solidFill>
              <a:srgbClr val="E7548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03920" y="914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75480"/>
                </a:solidFill>
              </a:rPr>
              <a:t>08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22960" y="868680"/>
            <a:ext cx="8778240" cy="3931920"/>
          </a:xfrm>
          <a:prstGeom prst="rect">
            <a:avLst/>
          </a:prstGeom>
          <a:solidFill>
            <a:srgbClr val="1A1A1A"/>
          </a:solidFill>
          <a:ln w="12700">
            <a:solidFill>
              <a:srgbClr val="282828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82880" y="868680"/>
            <a:ext cx="2560320" cy="3931920"/>
          </a:xfrm>
          <a:prstGeom prst="rect">
            <a:avLst/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9601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75480"/>
                </a:solidFill>
              </a:rPr>
              <a:t>🎵 InstruNet AI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20040" y="1417320"/>
            <a:ext cx="2286000" cy="201168"/>
          </a:xfrm>
          <a:prstGeom prst="rect">
            <a:avLst/>
          </a:prstGeom>
          <a:solidFill>
            <a:srgbClr val="E75480">
              <a:alpha val="15000"/>
            </a:srgbClr>
          </a:solidFill>
          <a:ln w="12700">
            <a:solidFill>
              <a:srgbClr val="E7548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" y="1417320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kern="0" spc="200" dirty="0">
                <a:solidFill>
                  <a:srgbClr val="E75480"/>
                </a:solidFill>
              </a:rPr>
              <a:t>UPLOAD AUDIO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320040" y="1664208"/>
            <a:ext cx="2286000" cy="594360"/>
          </a:xfrm>
          <a:prstGeom prst="rect">
            <a:avLst/>
          </a:prstGeom>
          <a:solidFill>
            <a:srgbClr val="282828"/>
          </a:solidFill>
          <a:ln w="12700">
            <a:solidFill>
              <a:srgbClr val="53535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" y="1664208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B3B3B3"/>
                </a:solidFill>
              </a:rPr>
              <a:t>Drag and drop audio file here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B3B3B3"/>
                </a:solidFill>
              </a:rPr>
              <a:t>WAV, MP3, OGG, FLAC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20040" y="237744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B3B3B3"/>
                </a:solidFill>
              </a:rPr>
              <a:t>Segment duration: 3s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320040" y="2651760"/>
            <a:ext cx="2286000" cy="54864"/>
          </a:xfrm>
          <a:prstGeom prst="rect">
            <a:avLst/>
          </a:prstGeom>
          <a:solidFill>
            <a:srgbClr val="282828"/>
          </a:solidFill>
          <a:ln w="12700">
            <a:solidFill>
              <a:srgbClr val="28282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325880" y="2615184"/>
            <a:ext cx="128016" cy="128016"/>
          </a:xfrm>
          <a:prstGeom prst="ellipse">
            <a:avLst/>
          </a:prstGeom>
          <a:solidFill>
            <a:srgbClr val="E75480"/>
          </a:solidFill>
          <a:ln w="12700">
            <a:solidFill>
              <a:srgbClr val="E7548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" y="278892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B3B3B3"/>
                </a:solidFill>
              </a:rPr>
              <a:t>Detection threshold: 0.30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320040" y="3108960"/>
            <a:ext cx="2286000" cy="548640"/>
          </a:xfrm>
          <a:prstGeom prst="rect">
            <a:avLst/>
          </a:prstGeom>
          <a:solidFill>
            <a:srgbClr val="282828"/>
          </a:solidFill>
          <a:ln w="12700">
            <a:solidFill>
              <a:srgbClr val="28282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0040" y="3108960"/>
            <a:ext cx="54864" cy="548640"/>
          </a:xfrm>
          <a:prstGeom prst="rect">
            <a:avLst/>
          </a:prstGeom>
          <a:solidFill>
            <a:srgbClr val="E75480"/>
          </a:solidFill>
          <a:ln w="12700">
            <a:solidFill>
              <a:srgbClr val="E7548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20040" y="3749040"/>
            <a:ext cx="2286000" cy="411480"/>
          </a:xfrm>
          <a:prstGeom prst="rect">
            <a:avLst/>
          </a:prstGeom>
          <a:solidFill>
            <a:srgbClr val="E75480"/>
          </a:solidFill>
          <a:ln w="12700">
            <a:solidFill>
              <a:srgbClr val="E7548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040" y="374904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Analyze Track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880360" y="9601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3B3B3"/>
                </a:solidFill>
              </a:rPr>
              <a:t>Waveform  |  Spectrogram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2880360" y="1280160"/>
            <a:ext cx="5943600" cy="1005840"/>
          </a:xfrm>
          <a:prstGeom prst="rect">
            <a:avLst/>
          </a:prstGeom>
          <a:solidFill>
            <a:srgbClr val="282828"/>
          </a:solidFill>
          <a:ln w="12700">
            <a:solidFill>
              <a:srgbClr val="53535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971800" y="1700784"/>
            <a:ext cx="201168" cy="73152"/>
          </a:xfrm>
          <a:prstGeom prst="rect">
            <a:avLst/>
          </a:prstGeom>
          <a:solidFill>
            <a:srgbClr val="E75480">
              <a:alpha val="60000"/>
            </a:srgbClr>
          </a:solidFill>
          <a:ln w="12700">
            <a:solidFill>
              <a:srgbClr val="E75480">
                <a:alpha val="6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246120" y="1627632"/>
            <a:ext cx="201168" cy="219456"/>
          </a:xfrm>
          <a:prstGeom prst="rect">
            <a:avLst/>
          </a:prstGeom>
          <a:solidFill>
            <a:srgbClr val="E75480">
              <a:alpha val="60000"/>
            </a:srgbClr>
          </a:solidFill>
          <a:ln w="12700">
            <a:solidFill>
              <a:srgbClr val="E75480">
                <a:alpha val="6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520440" y="1682496"/>
            <a:ext cx="201168" cy="109728"/>
          </a:xfrm>
          <a:prstGeom prst="rect">
            <a:avLst/>
          </a:prstGeom>
          <a:solidFill>
            <a:srgbClr val="E75480">
              <a:alpha val="60000"/>
            </a:srgbClr>
          </a:solidFill>
          <a:ln w="12700">
            <a:solidFill>
              <a:srgbClr val="E75480">
                <a:alpha val="6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794760" y="1591056"/>
            <a:ext cx="201168" cy="292608"/>
          </a:xfrm>
          <a:prstGeom prst="rect">
            <a:avLst/>
          </a:prstGeom>
          <a:solidFill>
            <a:srgbClr val="E75480">
              <a:alpha val="60000"/>
            </a:srgbClr>
          </a:solidFill>
          <a:ln w="12700">
            <a:solidFill>
              <a:srgbClr val="E75480">
                <a:alpha val="60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069080" y="1664208"/>
            <a:ext cx="201168" cy="146304"/>
          </a:xfrm>
          <a:prstGeom prst="rect">
            <a:avLst/>
          </a:prstGeom>
          <a:solidFill>
            <a:srgbClr val="E75480">
              <a:alpha val="60000"/>
            </a:srgbClr>
          </a:solidFill>
          <a:ln w="12700">
            <a:solidFill>
              <a:srgbClr val="E75480">
                <a:alpha val="60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343400" y="1609344"/>
            <a:ext cx="201168" cy="256032"/>
          </a:xfrm>
          <a:prstGeom prst="rect">
            <a:avLst/>
          </a:prstGeom>
          <a:solidFill>
            <a:srgbClr val="E75480">
              <a:alpha val="60000"/>
            </a:srgbClr>
          </a:solidFill>
          <a:ln w="12700">
            <a:solidFill>
              <a:srgbClr val="E75480">
                <a:alpha val="60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617720" y="1693469"/>
            <a:ext cx="201168" cy="87782"/>
          </a:xfrm>
          <a:prstGeom prst="rect">
            <a:avLst/>
          </a:prstGeom>
          <a:solidFill>
            <a:srgbClr val="E75480">
              <a:alpha val="60000"/>
            </a:srgbClr>
          </a:solidFill>
          <a:ln w="12700">
            <a:solidFill>
              <a:srgbClr val="E75480">
                <a:alpha val="60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892040" y="1572768"/>
            <a:ext cx="201168" cy="329184"/>
          </a:xfrm>
          <a:prstGeom prst="rect">
            <a:avLst/>
          </a:prstGeom>
          <a:solidFill>
            <a:srgbClr val="E75480">
              <a:alpha val="60000"/>
            </a:srgbClr>
          </a:solidFill>
          <a:ln w="12700">
            <a:solidFill>
              <a:srgbClr val="E75480">
                <a:alpha val="60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166360" y="1656893"/>
            <a:ext cx="201168" cy="160934"/>
          </a:xfrm>
          <a:prstGeom prst="rect">
            <a:avLst/>
          </a:prstGeom>
          <a:solidFill>
            <a:srgbClr val="E75480">
              <a:alpha val="60000"/>
            </a:srgbClr>
          </a:solidFill>
          <a:ln w="12700">
            <a:solidFill>
              <a:srgbClr val="E75480">
                <a:alpha val="60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440680" y="1598371"/>
            <a:ext cx="201168" cy="277978"/>
          </a:xfrm>
          <a:prstGeom prst="rect">
            <a:avLst/>
          </a:prstGeom>
          <a:solidFill>
            <a:srgbClr val="E75480">
              <a:alpha val="60000"/>
            </a:srgbClr>
          </a:solidFill>
          <a:ln w="12700">
            <a:solidFill>
              <a:srgbClr val="E75480">
                <a:alpha val="60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715000" y="1671523"/>
            <a:ext cx="201168" cy="131674"/>
          </a:xfrm>
          <a:prstGeom prst="rect">
            <a:avLst/>
          </a:prstGeom>
          <a:solidFill>
            <a:srgbClr val="E75480">
              <a:alpha val="60000"/>
            </a:srgbClr>
          </a:solidFill>
          <a:ln w="12700">
            <a:solidFill>
              <a:srgbClr val="E75480">
                <a:alpha val="60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989320" y="1583741"/>
            <a:ext cx="201168" cy="307238"/>
          </a:xfrm>
          <a:prstGeom prst="rect">
            <a:avLst/>
          </a:prstGeom>
          <a:solidFill>
            <a:srgbClr val="E75480">
              <a:alpha val="60000"/>
            </a:srgbClr>
          </a:solidFill>
          <a:ln w="12700">
            <a:solidFill>
              <a:srgbClr val="E75480">
                <a:alpha val="60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263640" y="1634947"/>
            <a:ext cx="201168" cy="204826"/>
          </a:xfrm>
          <a:prstGeom prst="rect">
            <a:avLst/>
          </a:prstGeom>
          <a:solidFill>
            <a:srgbClr val="E75480">
              <a:alpha val="60000"/>
            </a:srgbClr>
          </a:solidFill>
          <a:ln w="12700">
            <a:solidFill>
              <a:srgbClr val="E75480">
                <a:alpha val="60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537960" y="1609344"/>
            <a:ext cx="201168" cy="256032"/>
          </a:xfrm>
          <a:prstGeom prst="rect">
            <a:avLst/>
          </a:prstGeom>
          <a:solidFill>
            <a:srgbClr val="E75480">
              <a:alpha val="60000"/>
            </a:srgbClr>
          </a:solidFill>
          <a:ln w="12700">
            <a:solidFill>
              <a:srgbClr val="E75480">
                <a:alpha val="60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812280" y="1682496"/>
            <a:ext cx="201168" cy="109728"/>
          </a:xfrm>
          <a:prstGeom prst="rect">
            <a:avLst/>
          </a:prstGeom>
          <a:solidFill>
            <a:srgbClr val="E75480">
              <a:alpha val="60000"/>
            </a:srgbClr>
          </a:solidFill>
          <a:ln w="12700">
            <a:solidFill>
              <a:srgbClr val="E75480">
                <a:alpha val="60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086600" y="1591056"/>
            <a:ext cx="201168" cy="292608"/>
          </a:xfrm>
          <a:prstGeom prst="rect">
            <a:avLst/>
          </a:prstGeom>
          <a:solidFill>
            <a:srgbClr val="E75480">
              <a:alpha val="60000"/>
            </a:srgbClr>
          </a:solidFill>
          <a:ln w="12700">
            <a:solidFill>
              <a:srgbClr val="E75480">
                <a:alpha val="60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7360920" y="1656893"/>
            <a:ext cx="201168" cy="160934"/>
          </a:xfrm>
          <a:prstGeom prst="rect">
            <a:avLst/>
          </a:prstGeom>
          <a:solidFill>
            <a:srgbClr val="E75480">
              <a:alpha val="60000"/>
            </a:srgbClr>
          </a:solidFill>
          <a:ln w="12700">
            <a:solidFill>
              <a:srgbClr val="E75480">
                <a:alpha val="60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7635240" y="1627632"/>
            <a:ext cx="201168" cy="219456"/>
          </a:xfrm>
          <a:prstGeom prst="rect">
            <a:avLst/>
          </a:prstGeom>
          <a:solidFill>
            <a:srgbClr val="E75480">
              <a:alpha val="60000"/>
            </a:srgbClr>
          </a:solidFill>
          <a:ln w="12700">
            <a:solidFill>
              <a:srgbClr val="E75480">
                <a:alpha val="60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909560" y="1671523"/>
            <a:ext cx="201168" cy="131674"/>
          </a:xfrm>
          <a:prstGeom prst="rect">
            <a:avLst/>
          </a:prstGeom>
          <a:solidFill>
            <a:srgbClr val="E75480">
              <a:alpha val="60000"/>
            </a:srgbClr>
          </a:solidFill>
          <a:ln w="12700">
            <a:solidFill>
              <a:srgbClr val="E75480">
                <a:alpha val="60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8183880" y="1609344"/>
            <a:ext cx="201168" cy="256032"/>
          </a:xfrm>
          <a:prstGeom prst="rect">
            <a:avLst/>
          </a:prstGeom>
          <a:solidFill>
            <a:srgbClr val="E75480">
              <a:alpha val="60000"/>
            </a:srgbClr>
          </a:solidFill>
          <a:ln w="12700">
            <a:solidFill>
              <a:srgbClr val="E75480">
                <a:alpha val="60000"/>
              </a:srgbClr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880360" y="242316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kern="0" spc="200" dirty="0">
                <a:solidFill>
                  <a:srgbClr val="E75480"/>
                </a:solidFill>
              </a:rPr>
              <a:t>DETECTED INSTRUMENTS</a:t>
            </a:r>
            <a:endParaRPr lang="en-US" sz="700" dirty="0"/>
          </a:p>
        </p:txBody>
      </p:sp>
      <p:sp>
        <p:nvSpPr>
          <p:cNvPr id="45" name="Shape 43"/>
          <p:cNvSpPr/>
          <p:nvPr/>
        </p:nvSpPr>
        <p:spPr>
          <a:xfrm>
            <a:off x="2880360" y="2697480"/>
            <a:ext cx="2651760" cy="411480"/>
          </a:xfrm>
          <a:prstGeom prst="rect">
            <a:avLst/>
          </a:prstGeom>
          <a:solidFill>
            <a:srgbClr val="282828"/>
          </a:solidFill>
          <a:ln w="12700">
            <a:solidFill>
              <a:srgbClr val="1DB954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2880360" y="2697480"/>
            <a:ext cx="45720" cy="411480"/>
          </a:xfrm>
          <a:prstGeom prst="rect">
            <a:avLst/>
          </a:prstGeom>
          <a:solidFill>
            <a:srgbClr val="1DB954"/>
          </a:solidFill>
          <a:ln w="12700">
            <a:solidFill>
              <a:srgbClr val="1DB954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971800" y="269748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</a:rPr>
              <a:t>Acoustic Guitar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4434840" y="2697480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DB954"/>
                </a:solidFill>
              </a:rPr>
              <a:t>69.3%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2880360" y="3200400"/>
            <a:ext cx="2651760" cy="411480"/>
          </a:xfrm>
          <a:prstGeom prst="rect">
            <a:avLst/>
          </a:prstGeom>
          <a:solidFill>
            <a:srgbClr val="282828"/>
          </a:solidFill>
          <a:ln w="12700">
            <a:solidFill>
              <a:srgbClr val="E09132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2880360" y="3200400"/>
            <a:ext cx="45720" cy="411480"/>
          </a:xfrm>
          <a:prstGeom prst="rect">
            <a:avLst/>
          </a:prstGeom>
          <a:solidFill>
            <a:srgbClr val="E09132"/>
          </a:solidFill>
          <a:ln w="12700">
            <a:solidFill>
              <a:srgbClr val="E09132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2971800" y="320040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</a:rPr>
              <a:t>Piano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4434840" y="3200400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E09132"/>
                </a:solidFill>
              </a:rPr>
              <a:t>29.7%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5760720" y="242316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kern="0" spc="200" dirty="0">
                <a:solidFill>
                  <a:srgbClr val="E75480"/>
                </a:solidFill>
              </a:rPr>
              <a:t>CONFIDENCE BARS</a:t>
            </a:r>
            <a:endParaRPr lang="en-US" sz="700" dirty="0"/>
          </a:p>
        </p:txBody>
      </p:sp>
      <p:sp>
        <p:nvSpPr>
          <p:cNvPr id="54" name="Text 52"/>
          <p:cNvSpPr/>
          <p:nvPr/>
        </p:nvSpPr>
        <p:spPr>
          <a:xfrm>
            <a:off x="5760720" y="2715768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B3B3B3"/>
                </a:solidFill>
              </a:rPr>
              <a:t>Ac. Guitar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6766560" y="2761488"/>
            <a:ext cx="1828800" cy="164592"/>
          </a:xfrm>
          <a:prstGeom prst="rect">
            <a:avLst/>
          </a:prstGeom>
          <a:solidFill>
            <a:srgbClr val="282828"/>
          </a:solidFill>
          <a:ln w="12700">
            <a:solidFill>
              <a:srgbClr val="282828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6766560" y="2761488"/>
            <a:ext cx="1261872" cy="164592"/>
          </a:xfrm>
          <a:prstGeom prst="rect">
            <a:avLst/>
          </a:prstGeom>
          <a:solidFill>
            <a:srgbClr val="E75480"/>
          </a:solidFill>
          <a:ln w="12700">
            <a:solidFill>
              <a:srgbClr val="E7548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8613648" y="2715768"/>
            <a:ext cx="320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</a:rPr>
              <a:t>69%</a:t>
            </a:r>
            <a:endParaRPr lang="en-US" sz="800" dirty="0"/>
          </a:p>
        </p:txBody>
      </p:sp>
      <p:sp>
        <p:nvSpPr>
          <p:cNvPr id="58" name="Text 56"/>
          <p:cNvSpPr/>
          <p:nvPr/>
        </p:nvSpPr>
        <p:spPr>
          <a:xfrm>
            <a:off x="5760720" y="3035808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B3B3B3"/>
                </a:solidFill>
              </a:rPr>
              <a:t>Piano</a:t>
            </a:r>
            <a:endParaRPr lang="en-US" sz="800" dirty="0"/>
          </a:p>
        </p:txBody>
      </p:sp>
      <p:sp>
        <p:nvSpPr>
          <p:cNvPr id="59" name="Shape 57"/>
          <p:cNvSpPr/>
          <p:nvPr/>
        </p:nvSpPr>
        <p:spPr>
          <a:xfrm>
            <a:off x="6766560" y="3081528"/>
            <a:ext cx="1828800" cy="164592"/>
          </a:xfrm>
          <a:prstGeom prst="rect">
            <a:avLst/>
          </a:prstGeom>
          <a:solidFill>
            <a:srgbClr val="282828"/>
          </a:solidFill>
          <a:ln w="12700">
            <a:solidFill>
              <a:srgbClr val="282828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6766560" y="3081528"/>
            <a:ext cx="548640" cy="164592"/>
          </a:xfrm>
          <a:prstGeom prst="rect">
            <a:avLst/>
          </a:prstGeom>
          <a:solidFill>
            <a:srgbClr val="E75480"/>
          </a:solidFill>
          <a:ln w="12700">
            <a:solidFill>
              <a:srgbClr val="E7548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8613648" y="3035808"/>
            <a:ext cx="320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</a:rPr>
              <a:t>30%</a:t>
            </a:r>
            <a:endParaRPr lang="en-US" sz="800" dirty="0"/>
          </a:p>
        </p:txBody>
      </p:sp>
      <p:sp>
        <p:nvSpPr>
          <p:cNvPr id="62" name="Text 60"/>
          <p:cNvSpPr/>
          <p:nvPr/>
        </p:nvSpPr>
        <p:spPr>
          <a:xfrm>
            <a:off x="5760720" y="3355848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B3B3B3"/>
                </a:solidFill>
              </a:rPr>
              <a:t>Clarinet</a:t>
            </a:r>
            <a:endParaRPr lang="en-US" sz="800" dirty="0"/>
          </a:p>
        </p:txBody>
      </p:sp>
      <p:sp>
        <p:nvSpPr>
          <p:cNvPr id="63" name="Shape 61"/>
          <p:cNvSpPr/>
          <p:nvPr/>
        </p:nvSpPr>
        <p:spPr>
          <a:xfrm>
            <a:off x="6766560" y="3401568"/>
            <a:ext cx="1828800" cy="164592"/>
          </a:xfrm>
          <a:prstGeom prst="rect">
            <a:avLst/>
          </a:prstGeom>
          <a:solidFill>
            <a:srgbClr val="282828"/>
          </a:solidFill>
          <a:ln w="12700">
            <a:solidFill>
              <a:srgbClr val="282828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6766560" y="3401568"/>
            <a:ext cx="402336" cy="164592"/>
          </a:xfrm>
          <a:prstGeom prst="rect">
            <a:avLst/>
          </a:prstGeom>
          <a:solidFill>
            <a:srgbClr val="E75480"/>
          </a:solidFill>
          <a:ln w="12700">
            <a:solidFill>
              <a:srgbClr val="E75480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8613648" y="3355848"/>
            <a:ext cx="320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</a:rPr>
              <a:t>22%</a:t>
            </a:r>
            <a:endParaRPr lang="en-US" sz="800" dirty="0"/>
          </a:p>
        </p:txBody>
      </p:sp>
      <p:sp>
        <p:nvSpPr>
          <p:cNvPr id="66" name="Text 64"/>
          <p:cNvSpPr/>
          <p:nvPr/>
        </p:nvSpPr>
        <p:spPr>
          <a:xfrm>
            <a:off x="5760720" y="3675888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B3B3B3"/>
                </a:solidFill>
              </a:rPr>
              <a:t>Trumpet</a:t>
            </a:r>
            <a:endParaRPr lang="en-US" sz="800" dirty="0"/>
          </a:p>
        </p:txBody>
      </p:sp>
      <p:sp>
        <p:nvSpPr>
          <p:cNvPr id="68" name="Shape 66"/>
          <p:cNvSpPr/>
          <p:nvPr/>
        </p:nvSpPr>
        <p:spPr>
          <a:xfrm>
            <a:off x="6766560" y="3721608"/>
            <a:ext cx="329184" cy="164592"/>
          </a:xfrm>
          <a:prstGeom prst="rect">
            <a:avLst/>
          </a:prstGeom>
          <a:solidFill>
            <a:srgbClr val="E75480"/>
          </a:solidFill>
          <a:ln w="12700">
            <a:solidFill>
              <a:srgbClr val="E75480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8613648" y="3675888"/>
            <a:ext cx="320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</a:rPr>
              <a:t>18%</a:t>
            </a:r>
            <a:endParaRPr lang="en-US" sz="800" dirty="0"/>
          </a:p>
        </p:txBody>
      </p:sp>
      <p:sp>
        <p:nvSpPr>
          <p:cNvPr id="70" name="Shape 68"/>
          <p:cNvSpPr/>
          <p:nvPr/>
        </p:nvSpPr>
        <p:spPr>
          <a:xfrm>
            <a:off x="2880360" y="4114800"/>
            <a:ext cx="1325880" cy="347472"/>
          </a:xfrm>
          <a:prstGeom prst="rect">
            <a:avLst/>
          </a:prstGeom>
          <a:solidFill>
            <a:srgbClr val="282828"/>
          </a:solidFill>
          <a:ln w="12700">
            <a:solidFill>
              <a:srgbClr val="1DB954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2880360" y="4160520"/>
            <a:ext cx="1325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DB954"/>
                </a:solidFill>
              </a:rPr>
              <a:t>Download JSON</a:t>
            </a:r>
            <a:endParaRPr lang="en-US" sz="800" dirty="0"/>
          </a:p>
        </p:txBody>
      </p:sp>
      <p:sp>
        <p:nvSpPr>
          <p:cNvPr id="72" name="Shape 70"/>
          <p:cNvSpPr/>
          <p:nvPr/>
        </p:nvSpPr>
        <p:spPr>
          <a:xfrm>
            <a:off x="4294071" y="4137660"/>
            <a:ext cx="1325880" cy="347472"/>
          </a:xfrm>
          <a:prstGeom prst="rect">
            <a:avLst/>
          </a:prstGeom>
          <a:solidFill>
            <a:srgbClr val="282828"/>
          </a:solidFill>
          <a:ln w="12700">
            <a:solidFill>
              <a:srgbClr val="E75480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4297680" y="4160520"/>
            <a:ext cx="1325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E75480"/>
                </a:solidFill>
              </a:rPr>
              <a:t>Download TXT</a:t>
            </a:r>
            <a:endParaRPr lang="en-US" sz="800" dirty="0"/>
          </a:p>
        </p:txBody>
      </p:sp>
      <p:sp>
        <p:nvSpPr>
          <p:cNvPr id="75" name="Text 73"/>
          <p:cNvSpPr/>
          <p:nvPr/>
        </p:nvSpPr>
        <p:spPr>
          <a:xfrm>
            <a:off x="5961888" y="3310128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3B3B3"/>
                </a:solidFill>
              </a:rPr>
              <a:t>)</a:t>
            </a:r>
            <a:endParaRPr lang="en-US" sz="850" dirty="0"/>
          </a:p>
        </p:txBody>
      </p:sp>
      <p:sp>
        <p:nvSpPr>
          <p:cNvPr id="77" name="Text 75"/>
          <p:cNvSpPr/>
          <p:nvPr/>
        </p:nvSpPr>
        <p:spPr>
          <a:xfrm>
            <a:off x="5961888" y="3630168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850" dirty="0"/>
          </a:p>
        </p:txBody>
      </p:sp>
      <p:sp>
        <p:nvSpPr>
          <p:cNvPr id="79" name="Text 77"/>
          <p:cNvSpPr/>
          <p:nvPr/>
        </p:nvSpPr>
        <p:spPr>
          <a:xfrm>
            <a:off x="5961888" y="3950208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850" dirty="0"/>
          </a:p>
        </p:txBody>
      </p:sp>
      <p:sp>
        <p:nvSpPr>
          <p:cNvPr id="81" name="Text 79"/>
          <p:cNvSpPr/>
          <p:nvPr/>
        </p:nvSpPr>
        <p:spPr>
          <a:xfrm>
            <a:off x="5961888" y="4270248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850" dirty="0"/>
          </a:p>
        </p:txBody>
      </p:sp>
      <p:sp>
        <p:nvSpPr>
          <p:cNvPr id="83" name="Text 81"/>
          <p:cNvSpPr/>
          <p:nvPr/>
        </p:nvSpPr>
        <p:spPr>
          <a:xfrm>
            <a:off x="5961888" y="4590288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850" dirty="0"/>
          </a:p>
        </p:txBody>
      </p:sp>
      <p:sp>
        <p:nvSpPr>
          <p:cNvPr id="85" name="Text 83"/>
          <p:cNvSpPr/>
          <p:nvPr/>
        </p:nvSpPr>
        <p:spPr>
          <a:xfrm>
            <a:off x="6035040" y="4486576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36576"/>
          </a:xfrm>
          <a:prstGeom prst="rect">
            <a:avLst/>
          </a:prstGeom>
          <a:solidFill>
            <a:srgbClr val="E75480"/>
          </a:solidFill>
          <a:ln w="12700">
            <a:solidFill>
              <a:srgbClr val="E7548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046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Challenges and Solutions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8503920" y="91440"/>
            <a:ext cx="502920" cy="502920"/>
          </a:xfrm>
          <a:prstGeom prst="rect">
            <a:avLst/>
          </a:prstGeom>
          <a:solidFill>
            <a:srgbClr val="E75480">
              <a:alpha val="20000"/>
            </a:srgbClr>
          </a:solidFill>
          <a:ln w="12700">
            <a:solidFill>
              <a:srgbClr val="E7548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03920" y="914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75480"/>
                </a:solidFill>
              </a:rPr>
              <a:t>09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82880" y="868680"/>
            <a:ext cx="4297680" cy="1783080"/>
          </a:xfrm>
          <a:prstGeom prst="rect">
            <a:avLst/>
          </a:prstGeom>
          <a:solidFill>
            <a:srgbClr val="1E1E1E"/>
          </a:solidFill>
          <a:ln w="12700">
            <a:solidFill>
              <a:srgbClr val="282828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82880" y="868680"/>
            <a:ext cx="54864" cy="1783080"/>
          </a:xfrm>
          <a:prstGeom prst="rect">
            <a:avLst/>
          </a:prstGeom>
          <a:solidFill>
            <a:srgbClr val="E75480"/>
          </a:solidFill>
          <a:ln w="12700">
            <a:solidFill>
              <a:srgbClr val="E7548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941832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Multi-label Dataset Mismatch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20040" y="1289304"/>
            <a:ext cx="4023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3B3B3"/>
                </a:solidFill>
              </a:rPr>
              <a:t>Problem:  IRMAS training data contains multiple instruments per file but was stored in single-label folders. Single-label training on multi-label data creates noisy supervision.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20040" y="1892808"/>
            <a:ext cx="3931920" cy="36576"/>
          </a:xfrm>
          <a:prstGeom prst="rect">
            <a:avLst/>
          </a:prstGeom>
          <a:solidFill>
            <a:srgbClr val="282828"/>
          </a:solidFill>
          <a:ln w="12700">
            <a:solidFill>
              <a:srgbClr val="28282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1965960"/>
            <a:ext cx="40233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DB954"/>
                </a:solidFill>
              </a:rPr>
              <a:t>Solution:  Implemented multi-hot label encoding by parsing all instrument tags from filenames such as [gac][cla], then used sigmoid + binary crossentropy.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182880" y="2834640"/>
            <a:ext cx="4297680" cy="1783080"/>
          </a:xfrm>
          <a:prstGeom prst="rect">
            <a:avLst/>
          </a:prstGeom>
          <a:solidFill>
            <a:srgbClr val="1E1E1E"/>
          </a:solidFill>
          <a:ln w="12700">
            <a:solidFill>
              <a:srgbClr val="282828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182880" y="2834640"/>
            <a:ext cx="54864" cy="1783080"/>
          </a:xfrm>
          <a:prstGeom prst="rect">
            <a:avLst/>
          </a:prstGeom>
          <a:solidFill>
            <a:srgbClr val="E75480"/>
          </a:solidFill>
          <a:ln w="12700">
            <a:solidFill>
              <a:srgbClr val="E7548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0040" y="2907792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Preprocessing Mismatch in Prediction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20040" y="3255264"/>
            <a:ext cx="4023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3B3B3"/>
                </a:solidFill>
              </a:rPr>
              <a:t>Problem:  predict.py produced wrong results because it used different preprocessing than training — no z-score normalization, wrong audio duration.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320040" y="3858768"/>
            <a:ext cx="3931920" cy="36576"/>
          </a:xfrm>
          <a:prstGeom prst="rect">
            <a:avLst/>
          </a:prstGeom>
          <a:solidFill>
            <a:srgbClr val="282828"/>
          </a:solidFill>
          <a:ln w="12700">
            <a:solidFill>
              <a:srgbClr val="28282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" y="3931920"/>
            <a:ext cx="40233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DB954"/>
                </a:solidFill>
              </a:rPr>
              <a:t>Solution:  Reverse-engineered the exact pipeline from dataset_builder.py and matched all parameters — sample rate, duration, delta features, and z-score normalization.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663440" y="868680"/>
            <a:ext cx="4297680" cy="1783080"/>
          </a:xfrm>
          <a:prstGeom prst="rect">
            <a:avLst/>
          </a:prstGeom>
          <a:solidFill>
            <a:srgbClr val="1E1E1E"/>
          </a:solidFill>
          <a:ln w="12700">
            <a:solidFill>
              <a:srgbClr val="282828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663440" y="868680"/>
            <a:ext cx="54864" cy="1783080"/>
          </a:xfrm>
          <a:prstGeom prst="rect">
            <a:avLst/>
          </a:prstGeom>
          <a:solidFill>
            <a:srgbClr val="E75480"/>
          </a:solidFill>
          <a:ln w="12700">
            <a:solidFill>
              <a:srgbClr val="E7548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00600" y="941832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Custom Metric Loading Error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800600" y="1289304"/>
            <a:ext cx="4023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3B3B3"/>
                </a:solidFill>
              </a:rPr>
              <a:t>Problem:  MacroF1 custom metric caused errors when loading the saved .keras model in a new script because Keras could not find the class definition.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4800600" y="1892808"/>
            <a:ext cx="3931920" cy="36576"/>
          </a:xfrm>
          <a:prstGeom prst="rect">
            <a:avLst/>
          </a:prstGeom>
          <a:solidFill>
            <a:srgbClr val="282828"/>
          </a:solidFill>
          <a:ln w="12700">
            <a:solidFill>
              <a:srgbClr val="28282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00600" y="1965960"/>
            <a:ext cx="40233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DB954"/>
                </a:solidFill>
              </a:rPr>
              <a:t>Solution:  Used compile=False when loading the model to skip metric reconstruction entirely. Recompiled with standard metrics for fine-tuning.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4663440" y="2834640"/>
            <a:ext cx="4297680" cy="1783080"/>
          </a:xfrm>
          <a:prstGeom prst="rect">
            <a:avLst/>
          </a:prstGeom>
          <a:solidFill>
            <a:srgbClr val="1E1E1E"/>
          </a:solidFill>
          <a:ln w="12700">
            <a:solidFill>
              <a:srgbClr val="282828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663440" y="2834640"/>
            <a:ext cx="54864" cy="1783080"/>
          </a:xfrm>
          <a:prstGeom prst="rect">
            <a:avLst/>
          </a:prstGeom>
          <a:solidFill>
            <a:srgbClr val="E75480"/>
          </a:solidFill>
          <a:ln w="12700">
            <a:solidFill>
              <a:srgbClr val="E7548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00600" y="2907792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Catastrophic Forgetting After Fine-tuning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800600" y="3255264"/>
            <a:ext cx="4023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3B3B3"/>
                </a:solidFill>
              </a:rPr>
              <a:t>Problem:  Fine-tuning on only 3 weak classes caused the model to predict those classes for all inputs — a classic catastrophic forgetting problem.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4800600" y="3858768"/>
            <a:ext cx="3931920" cy="36576"/>
          </a:xfrm>
          <a:prstGeom prst="rect">
            <a:avLst/>
          </a:prstGeom>
          <a:solidFill>
            <a:srgbClr val="282828"/>
          </a:solidFill>
          <a:ln w="12700">
            <a:solidFill>
              <a:srgbClr val="28282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00600" y="3931920"/>
            <a:ext cx="40233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DB954"/>
                </a:solidFill>
              </a:rPr>
              <a:t>Solution:  Reverted to v1 model. Used segmentation and temporal averaging to improve robustness without needing another full retrain.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36576"/>
          </a:xfrm>
          <a:prstGeom prst="rect">
            <a:avLst/>
          </a:prstGeom>
          <a:solidFill>
            <a:srgbClr val="E75480"/>
          </a:solidFill>
          <a:ln w="12700">
            <a:solidFill>
              <a:srgbClr val="E7548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046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Future Improvements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8503920" y="91440"/>
            <a:ext cx="502920" cy="502920"/>
          </a:xfrm>
          <a:prstGeom prst="rect">
            <a:avLst/>
          </a:prstGeom>
          <a:solidFill>
            <a:srgbClr val="E75480">
              <a:alpha val="20000"/>
            </a:srgbClr>
          </a:solidFill>
          <a:ln w="12700">
            <a:solidFill>
              <a:srgbClr val="E7548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03920" y="914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75480"/>
                </a:solidFill>
              </a:rPr>
              <a:t>10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82880" y="868680"/>
            <a:ext cx="2743200" cy="1965960"/>
          </a:xfrm>
          <a:prstGeom prst="rect">
            <a:avLst/>
          </a:prstGeom>
          <a:solidFill>
            <a:srgbClr val="1E1E1E"/>
          </a:solidFill>
          <a:ln w="12700">
            <a:solidFill>
              <a:srgbClr val="282828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82880" y="868680"/>
            <a:ext cx="2743200" cy="45720"/>
          </a:xfrm>
          <a:prstGeom prst="rect">
            <a:avLst/>
          </a:prstGeom>
          <a:solidFill>
            <a:srgbClr val="E75480"/>
          </a:solidFill>
          <a:ln w="12700">
            <a:solidFill>
              <a:srgbClr val="E7548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320" y="978408"/>
            <a:ext cx="411480" cy="411480"/>
          </a:xfrm>
          <a:prstGeom prst="ellipse">
            <a:avLst/>
          </a:prstGeom>
          <a:solidFill>
            <a:srgbClr val="E75480">
              <a:alpha val="25000"/>
            </a:srgbClr>
          </a:solidFill>
          <a:ln w="12700">
            <a:solidFill>
              <a:srgbClr val="E7548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" y="97840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75480"/>
                </a:solidFill>
              </a:rPr>
              <a:t>01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77240" y="978408"/>
            <a:ext cx="2057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🗄️  Cleaner Dataset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20040" y="1463040"/>
            <a:ext cx="24688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3B3B3"/>
                </a:solidFill>
              </a:rPr>
              <a:t>Use NSynth (Google) with 300K isolated single-instrument recordings for cleaner training labels.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154680" y="868680"/>
            <a:ext cx="2743200" cy="1965960"/>
          </a:xfrm>
          <a:prstGeom prst="rect">
            <a:avLst/>
          </a:prstGeom>
          <a:solidFill>
            <a:srgbClr val="1E1E1E"/>
          </a:solidFill>
          <a:ln w="12700">
            <a:solidFill>
              <a:srgbClr val="282828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154680" y="868680"/>
            <a:ext cx="2743200" cy="45720"/>
          </a:xfrm>
          <a:prstGeom prst="rect">
            <a:avLst/>
          </a:prstGeom>
          <a:solidFill>
            <a:srgbClr val="C0406A"/>
          </a:solidFill>
          <a:ln w="12700">
            <a:solidFill>
              <a:srgbClr val="C0406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46120" y="978408"/>
            <a:ext cx="411480" cy="411480"/>
          </a:xfrm>
          <a:prstGeom prst="ellipse">
            <a:avLst/>
          </a:prstGeom>
          <a:solidFill>
            <a:srgbClr val="C0406A">
              <a:alpha val="25000"/>
            </a:srgbClr>
          </a:solidFill>
          <a:ln w="12700">
            <a:solidFill>
              <a:srgbClr val="C0406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46120" y="97840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0406A"/>
                </a:solidFill>
              </a:rPr>
              <a:t>02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749040" y="978408"/>
            <a:ext cx="2057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🏗️  Deeper Architecture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291840" y="1463040"/>
            <a:ext cx="24688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3B3B3"/>
                </a:solidFill>
              </a:rPr>
              <a:t>Add ResNet skip connections or attention mechanisms to better capture temporal patterns.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126480" y="868680"/>
            <a:ext cx="2743200" cy="1965960"/>
          </a:xfrm>
          <a:prstGeom prst="rect">
            <a:avLst/>
          </a:prstGeom>
          <a:solidFill>
            <a:srgbClr val="1E1E1E"/>
          </a:solidFill>
          <a:ln w="12700">
            <a:solidFill>
              <a:srgbClr val="282828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126480" y="868680"/>
            <a:ext cx="2743200" cy="45720"/>
          </a:xfrm>
          <a:prstGeom prst="rect">
            <a:avLst/>
          </a:prstGeom>
          <a:solidFill>
            <a:srgbClr val="1DB954"/>
          </a:solidFill>
          <a:ln w="12700">
            <a:solidFill>
              <a:srgbClr val="1DB95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217920" y="978408"/>
            <a:ext cx="411480" cy="411480"/>
          </a:xfrm>
          <a:prstGeom prst="ellipse">
            <a:avLst/>
          </a:prstGeom>
          <a:solidFill>
            <a:srgbClr val="1DB954">
              <a:alpha val="25000"/>
            </a:srgbClr>
          </a:solidFill>
          <a:ln w="12700">
            <a:solidFill>
              <a:srgbClr val="1DB95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17920" y="97840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DB954"/>
                </a:solidFill>
              </a:rPr>
              <a:t>03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720840" y="978408"/>
            <a:ext cx="2057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📱  Real-time Detection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263640" y="1463040"/>
            <a:ext cx="24688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3B3B3"/>
                </a:solidFill>
              </a:rPr>
              <a:t>Stream audio from microphone and detect instruments live using a sliding window approach.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182880" y="3017520"/>
            <a:ext cx="2743200" cy="1965960"/>
          </a:xfrm>
          <a:prstGeom prst="rect">
            <a:avLst/>
          </a:prstGeom>
          <a:solidFill>
            <a:srgbClr val="1E1E1E"/>
          </a:solidFill>
          <a:ln w="12700">
            <a:solidFill>
              <a:srgbClr val="282828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182880" y="3017520"/>
            <a:ext cx="2743200" cy="45720"/>
          </a:xfrm>
          <a:prstGeom prst="rect">
            <a:avLst/>
          </a:prstGeom>
          <a:solidFill>
            <a:srgbClr val="18A045"/>
          </a:solidFill>
          <a:ln w="12700">
            <a:solidFill>
              <a:srgbClr val="18A04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74320" y="3127248"/>
            <a:ext cx="411480" cy="411480"/>
          </a:xfrm>
          <a:prstGeom prst="ellipse">
            <a:avLst/>
          </a:prstGeom>
          <a:solidFill>
            <a:srgbClr val="18A045">
              <a:alpha val="25000"/>
            </a:srgbClr>
          </a:solidFill>
          <a:ln w="12700">
            <a:solidFill>
              <a:srgbClr val="18A04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74320" y="312724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8A045"/>
                </a:solidFill>
              </a:rPr>
              <a:t>04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777240" y="3127248"/>
            <a:ext cx="2057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☁️  Cloud Deployment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320040" y="3611880"/>
            <a:ext cx="24688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3B3B3"/>
                </a:solidFill>
              </a:rPr>
              <a:t>Deploy on AWS or GCP with GPU inference and expose a REST API for music app integration.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3154680" y="3017520"/>
            <a:ext cx="2743200" cy="1965960"/>
          </a:xfrm>
          <a:prstGeom prst="rect">
            <a:avLst/>
          </a:prstGeom>
          <a:solidFill>
            <a:srgbClr val="1E1E1E"/>
          </a:solidFill>
          <a:ln w="12700">
            <a:solidFill>
              <a:srgbClr val="282828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3154680" y="3017520"/>
            <a:ext cx="2743200" cy="45720"/>
          </a:xfrm>
          <a:prstGeom prst="rect">
            <a:avLst/>
          </a:prstGeom>
          <a:solidFill>
            <a:srgbClr val="9B4AD9"/>
          </a:solidFill>
          <a:ln w="12700">
            <a:solidFill>
              <a:srgbClr val="9B4AD9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246120" y="3127248"/>
            <a:ext cx="411480" cy="411480"/>
          </a:xfrm>
          <a:prstGeom prst="ellipse">
            <a:avLst/>
          </a:prstGeom>
          <a:solidFill>
            <a:srgbClr val="9B4AD9">
              <a:alpha val="25000"/>
            </a:srgbClr>
          </a:solidFill>
          <a:ln w="12700">
            <a:solidFill>
              <a:srgbClr val="9B4AD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246120" y="312724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9B4AD9"/>
                </a:solidFill>
              </a:rPr>
              <a:t>05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3749040" y="3127248"/>
            <a:ext cx="2057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📊  Intensity Over Time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3291840" y="3611880"/>
            <a:ext cx="24688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3B3B3"/>
                </a:solidFill>
              </a:rPr>
              <a:t>Show not just which instruments are present but how loudly each plays at each moment.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6126480" y="3017520"/>
            <a:ext cx="2743200" cy="1965960"/>
          </a:xfrm>
          <a:prstGeom prst="rect">
            <a:avLst/>
          </a:prstGeom>
          <a:solidFill>
            <a:srgbClr val="1E1E1E"/>
          </a:solidFill>
          <a:ln w="12700">
            <a:solidFill>
              <a:srgbClr val="282828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6126480" y="3017520"/>
            <a:ext cx="2743200" cy="45720"/>
          </a:xfrm>
          <a:prstGeom prst="rect">
            <a:avLst/>
          </a:prstGeom>
          <a:solidFill>
            <a:srgbClr val="7B3AB9"/>
          </a:solidFill>
          <a:ln w="12700">
            <a:solidFill>
              <a:srgbClr val="7B3AB9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217920" y="3127248"/>
            <a:ext cx="411480" cy="411480"/>
          </a:xfrm>
          <a:prstGeom prst="ellipse">
            <a:avLst/>
          </a:prstGeom>
          <a:solidFill>
            <a:srgbClr val="7B3AB9">
              <a:alpha val="25000"/>
            </a:srgbClr>
          </a:solidFill>
          <a:ln w="12700">
            <a:solidFill>
              <a:srgbClr val="7B3AB9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217920" y="312724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7B3AB9"/>
                </a:solidFill>
              </a:rPr>
              <a:t>06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6720840" y="3127248"/>
            <a:ext cx="2057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🔊  Source Separation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6263640" y="3611880"/>
            <a:ext cx="24688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3B3B3"/>
                </a:solidFill>
              </a:rPr>
              <a:t>Combine with Demucs to isolate individual instrument stems from a mixed audio track.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457200"/>
            <a:ext cx="4572000" cy="4572000"/>
          </a:xfrm>
          <a:prstGeom prst="ellipse">
            <a:avLst/>
          </a:prstGeom>
          <a:solidFill>
            <a:srgbClr val="E75480">
              <a:alpha val="8000"/>
            </a:srgbClr>
          </a:solidFill>
          <a:ln w="12700">
            <a:solidFill>
              <a:srgbClr val="E75480">
                <a:alpha val="1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2286000"/>
            <a:ext cx="3200400" cy="3200400"/>
          </a:xfrm>
          <a:prstGeom prst="ellipse">
            <a:avLst/>
          </a:prstGeom>
          <a:solidFill>
            <a:srgbClr val="1DB954">
              <a:alpha val="8000"/>
            </a:srgbClr>
          </a:solidFill>
          <a:ln w="12700">
            <a:solidFill>
              <a:srgbClr val="1DB954">
                <a:alpha val="1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E75480"/>
          </a:solidFill>
          <a:ln w="12700">
            <a:solidFill>
              <a:srgbClr val="E7548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457200"/>
            <a:ext cx="1828800" cy="292608"/>
          </a:xfrm>
          <a:prstGeom prst="rect">
            <a:avLst/>
          </a:prstGeom>
          <a:solidFill>
            <a:srgbClr val="E75480"/>
          </a:solidFill>
          <a:ln w="12700">
            <a:solidFill>
              <a:srgbClr val="E7548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457200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300" dirty="0">
                <a:solidFill>
                  <a:srgbClr val="FFFFFF"/>
                </a:solidFill>
              </a:rPr>
              <a:t>CONCLUSION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65760" y="868680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We Built</a:t>
            </a:r>
            <a:endParaRPr lang="en-US" sz="3600" dirty="0"/>
          </a:p>
        </p:txBody>
      </p:sp>
      <p:sp>
        <p:nvSpPr>
          <p:cNvPr id="8" name="Shape 6"/>
          <p:cNvSpPr/>
          <p:nvPr/>
        </p:nvSpPr>
        <p:spPr>
          <a:xfrm>
            <a:off x="365760" y="1645920"/>
            <a:ext cx="5303520" cy="438912"/>
          </a:xfrm>
          <a:prstGeom prst="rect">
            <a:avLst/>
          </a:prstGeom>
          <a:solidFill>
            <a:srgbClr val="1E1E1E"/>
          </a:solidFill>
          <a:ln w="12700">
            <a:solidFill>
              <a:srgbClr val="282828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1645920"/>
            <a:ext cx="54864" cy="438912"/>
          </a:xfrm>
          <a:prstGeom prst="rect">
            <a:avLst/>
          </a:prstGeom>
          <a:solidFill>
            <a:srgbClr val="1DB954"/>
          </a:solidFill>
          <a:ln w="12700">
            <a:solidFill>
              <a:srgbClr val="1DB95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645920"/>
            <a:ext cx="2377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✅  End-to-end ML pipeline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926080" y="1645920"/>
            <a:ext cx="26517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3B3B3"/>
                </a:solidFill>
              </a:rPr>
              <a:t>Raw audio to instrument detection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65760" y="2148840"/>
            <a:ext cx="5303520" cy="438912"/>
          </a:xfrm>
          <a:prstGeom prst="rect">
            <a:avLst/>
          </a:prstGeom>
          <a:solidFill>
            <a:srgbClr val="1E1E1E"/>
          </a:solidFill>
          <a:ln w="12700">
            <a:solidFill>
              <a:srgbClr val="282828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5760" y="2148840"/>
            <a:ext cx="54864" cy="438912"/>
          </a:xfrm>
          <a:prstGeom prst="rect">
            <a:avLst/>
          </a:prstGeom>
          <a:solidFill>
            <a:srgbClr val="1DB954"/>
          </a:solidFill>
          <a:ln w="12700">
            <a:solidFill>
              <a:srgbClr val="1DB95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148840"/>
            <a:ext cx="2377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✅  66.2% accuracy  |  0.923 AUC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926080" y="2148840"/>
            <a:ext cx="26517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3B3B3"/>
                </a:solidFill>
              </a:rPr>
              <a:t>Consistent with published IRMAS baselines 60-72%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65760" y="2651760"/>
            <a:ext cx="5303520" cy="438912"/>
          </a:xfrm>
          <a:prstGeom prst="rect">
            <a:avLst/>
          </a:prstGeom>
          <a:solidFill>
            <a:srgbClr val="1E1E1E"/>
          </a:solidFill>
          <a:ln w="12700">
            <a:solidFill>
              <a:srgbClr val="282828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2651760"/>
            <a:ext cx="54864" cy="438912"/>
          </a:xfrm>
          <a:prstGeom prst="rect">
            <a:avLst/>
          </a:prstGeom>
          <a:solidFill>
            <a:srgbClr val="1DB954"/>
          </a:solidFill>
          <a:ln w="12700">
            <a:solidFill>
              <a:srgbClr val="1DB95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2651760"/>
            <a:ext cx="2377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✅  Streamlit web app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926080" y="2651760"/>
            <a:ext cx="26517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3B3B3"/>
                </a:solidFill>
              </a:rPr>
              <a:t>Upload, analyze, visualize, and export reports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65760" y="3154680"/>
            <a:ext cx="5303520" cy="438912"/>
          </a:xfrm>
          <a:prstGeom prst="rect">
            <a:avLst/>
          </a:prstGeom>
          <a:solidFill>
            <a:srgbClr val="1E1E1E"/>
          </a:solidFill>
          <a:ln w="12700">
            <a:solidFill>
              <a:srgbClr val="282828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3154680"/>
            <a:ext cx="54864" cy="438912"/>
          </a:xfrm>
          <a:prstGeom prst="rect">
            <a:avLst/>
          </a:prstGeom>
          <a:solidFill>
            <a:srgbClr val="1DB954"/>
          </a:solidFill>
          <a:ln w="12700">
            <a:solidFill>
              <a:srgbClr val="1DB95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3154680"/>
            <a:ext cx="2377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✅  Segment-based inference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926080" y="3154680"/>
            <a:ext cx="26517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3B3B3"/>
                </a:solidFill>
              </a:rPr>
              <a:t>Robust predictions on long real-world audio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65760" y="3657600"/>
            <a:ext cx="5303520" cy="438912"/>
          </a:xfrm>
          <a:prstGeom prst="rect">
            <a:avLst/>
          </a:prstGeom>
          <a:solidFill>
            <a:srgbClr val="1E1E1E"/>
          </a:solidFill>
          <a:ln w="12700">
            <a:solidFill>
              <a:srgbClr val="282828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65760" y="3657600"/>
            <a:ext cx="54864" cy="438912"/>
          </a:xfrm>
          <a:prstGeom prst="rect">
            <a:avLst/>
          </a:prstGeom>
          <a:solidFill>
            <a:srgbClr val="1DB954"/>
          </a:solidFill>
          <a:ln w="12700">
            <a:solidFill>
              <a:srgbClr val="1DB95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2920" y="3657600"/>
            <a:ext cx="2377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✅  Full evaluation suite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2926080" y="3657600"/>
            <a:ext cx="26517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3B3B3"/>
                </a:solidFill>
              </a:rPr>
              <a:t>ROC curves, confusion matrix, optimizer comparison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852160" y="868680"/>
            <a:ext cx="3017520" cy="3931920"/>
          </a:xfrm>
          <a:prstGeom prst="rect">
            <a:avLst/>
          </a:prstGeom>
          <a:solidFill>
            <a:srgbClr val="1E1E1E"/>
          </a:solidFill>
          <a:ln w="12700">
            <a:solidFill>
              <a:srgbClr val="282828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5852160" y="868680"/>
            <a:ext cx="3017520" cy="45720"/>
          </a:xfrm>
          <a:prstGeom prst="rect">
            <a:avLst/>
          </a:prstGeom>
          <a:solidFill>
            <a:srgbClr val="E75480"/>
          </a:solidFill>
          <a:ln w="12700">
            <a:solidFill>
              <a:srgbClr val="E7548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943600" y="96012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Key Learnings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5943600" y="1444752"/>
            <a:ext cx="182880" cy="182880"/>
          </a:xfrm>
          <a:prstGeom prst="ellipse">
            <a:avLst/>
          </a:prstGeom>
          <a:solidFill>
            <a:srgbClr val="E75480"/>
          </a:solidFill>
          <a:ln w="12700">
            <a:solidFill>
              <a:srgbClr val="E7548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199632" y="1417320"/>
            <a:ext cx="2560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3B3B3"/>
                </a:solidFill>
              </a:rPr>
              <a:t>Preprocessing matters as much as the model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5943600" y="1993392"/>
            <a:ext cx="182880" cy="182880"/>
          </a:xfrm>
          <a:prstGeom prst="ellipse">
            <a:avLst/>
          </a:prstGeom>
          <a:solidFill>
            <a:srgbClr val="E75480"/>
          </a:solidFill>
          <a:ln w="12700">
            <a:solidFill>
              <a:srgbClr val="E7548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199632" y="1965960"/>
            <a:ext cx="2560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3B3B3"/>
                </a:solidFill>
              </a:rPr>
              <a:t>Dataset quality limits accuracy more than architecture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5943600" y="2542032"/>
            <a:ext cx="182880" cy="182880"/>
          </a:xfrm>
          <a:prstGeom prst="ellipse">
            <a:avLst/>
          </a:prstGeom>
          <a:solidFill>
            <a:srgbClr val="E75480"/>
          </a:solidFill>
          <a:ln w="12700">
            <a:solidFill>
              <a:srgbClr val="E7548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199632" y="2514600"/>
            <a:ext cx="2560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3B3B3"/>
                </a:solidFill>
              </a:rPr>
              <a:t>Segmentation + averaging beats single-pass on long audio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5943600" y="3090672"/>
            <a:ext cx="182880" cy="182880"/>
          </a:xfrm>
          <a:prstGeom prst="ellipse">
            <a:avLst/>
          </a:prstGeom>
          <a:solidFill>
            <a:srgbClr val="E75480"/>
          </a:solidFill>
          <a:ln w="12700">
            <a:solidFill>
              <a:srgbClr val="E7548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199632" y="3063240"/>
            <a:ext cx="2560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3B3B3"/>
                </a:solidFill>
              </a:rPr>
              <a:t>AUC tells a better story than accuracy alone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5943600" y="3639312"/>
            <a:ext cx="182880" cy="182880"/>
          </a:xfrm>
          <a:prstGeom prst="ellipse">
            <a:avLst/>
          </a:prstGeom>
          <a:solidFill>
            <a:srgbClr val="E75480"/>
          </a:solidFill>
          <a:ln w="12700">
            <a:solidFill>
              <a:srgbClr val="E7548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199632" y="3611880"/>
            <a:ext cx="2560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3B3B3"/>
                </a:solidFill>
              </a:rPr>
              <a:t>Real ML means debugging pipelines not just writing models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365760" y="4663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75480"/>
                </a:solidFill>
              </a:rPr>
              <a:t>Thank you 🎵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365760" y="47548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35353"/>
                </a:solidFill>
              </a:rPr>
              <a:t>github.com/NitikaKumari/instrunet-ai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1094</Words>
  <Application>Microsoft Office PowerPoint</Application>
  <PresentationFormat>On-screen Show (16:9)</PresentationFormat>
  <Paragraphs>293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Arial Black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InstruNet AI</dc:title>
  <dc:subject>PptxGenJS Presentation</dc:subject>
  <dc:creator>Nitika Kumari</dc:creator>
  <cp:lastModifiedBy>NITIKA KUMARI</cp:lastModifiedBy>
  <cp:revision>2</cp:revision>
  <dcterms:created xsi:type="dcterms:W3CDTF">2026-04-01T04:45:28Z</dcterms:created>
  <dcterms:modified xsi:type="dcterms:W3CDTF">2026-04-01T04:56:54Z</dcterms:modified>
</cp:coreProperties>
</file>